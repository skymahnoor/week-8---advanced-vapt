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1258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214437" y="-1285875"/>
            <a:ext cx="3571875" cy="3571875"/>
          </a:xfrm>
          <a:prstGeom prst="ellipse">
            <a:avLst/>
          </a:prstGeom>
          <a:solidFill>
            <a:srgbClr val="C9B8E8">
              <a:alpha val="3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572250" y="2786063"/>
            <a:ext cx="4000500" cy="4000500"/>
          </a:xfrm>
          <a:prstGeom prst="ellipse">
            <a:avLst/>
          </a:prstGeom>
          <a:solidFill>
            <a:srgbClr val="A9D8C0">
              <a:alpha val="3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0" y="-414337"/>
            <a:ext cx="1214438" cy="1214438"/>
          </a:xfrm>
          <a:prstGeom prst="ellipse">
            <a:avLst/>
          </a:prstGeom>
          <a:solidFill>
            <a:srgbClr val="FFD9C7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03835" y="838498"/>
            <a:ext cx="3136329" cy="260747"/>
          </a:xfrm>
          <a:prstGeom prst="roundRect">
            <a:avLst>
              <a:gd name="adj" fmla="val 3649313"/>
            </a:avLst>
          </a:prstGeom>
          <a:solidFill>
            <a:srgbClr val="F0EAF9"/>
          </a:solidFill>
          <a:ln w="7144">
            <a:solidFill>
              <a:srgbClr val="C9B8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000263" y="834926"/>
            <a:ext cx="3143473" cy="316523"/>
          </a:xfrm>
          <a:prstGeom prst="rect">
            <a:avLst/>
          </a:prstGeom>
          <a:noFill/>
          <a:ln/>
        </p:spPr>
        <p:txBody>
          <a:bodyPr wrap="square" lIns="142875" tIns="57150" rIns="142875" bIns="5715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14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WEEKLY WORK SHOWCASE - CYBER SECURITY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1302841"/>
            <a:ext cx="8595360" cy="561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93"/>
              </a:lnSpc>
              <a:buNone/>
            </a:pPr>
            <a:r>
              <a:rPr lang="en-US" sz="3861" b="1" dirty="0">
                <a:solidFill>
                  <a:srgbClr val="4A3F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Week 8 - Advanced VAPT</a:t>
            </a:r>
            <a:endParaRPr lang="en-US" sz="3861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975" y="1993999"/>
            <a:ext cx="400050" cy="5000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34977" y="2186880"/>
            <a:ext cx="4874047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25"/>
              </a:lnSpc>
              <a:buNone/>
            </a:pPr>
            <a:r>
              <a:rPr lang="en-US" sz="1350" dirty="0">
                <a:solidFill>
                  <a:srgbClr val="776D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Chaining 5 Vulnerabilities into Full Application Compromise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723988" y="2704802"/>
            <a:ext cx="1653332" cy="260747"/>
          </a:xfrm>
          <a:prstGeom prst="roundRect">
            <a:avLst>
              <a:gd name="adj" fmla="val 3649313"/>
            </a:avLst>
          </a:prstGeom>
          <a:solidFill>
            <a:srgbClr val="F0EAF9"/>
          </a:solidFill>
          <a:ln w="7144">
            <a:solidFill>
              <a:srgbClr val="C9B8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961406" y="2695223"/>
            <a:ext cx="1410444" cy="126609"/>
          </a:xfrm>
          <a:prstGeom prst="rect">
            <a:avLst/>
          </a:prstGeom>
          <a:noFill/>
          <a:ln/>
        </p:spPr>
        <p:txBody>
          <a:bodyPr wrap="none" lIns="128588" tIns="57150" rIns="128588" bIns="5715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- OWASP Juice Shop</a:t>
            </a:r>
            <a:endParaRPr lang="en-US" sz="731" dirty="0"/>
          </a:p>
        </p:txBody>
      </p:sp>
      <p:sp>
        <p:nvSpPr>
          <p:cNvPr id="12" name="Text 9"/>
          <p:cNvSpPr/>
          <p:nvPr/>
        </p:nvSpPr>
        <p:spPr>
          <a:xfrm>
            <a:off x="1856147" y="2774454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95" dirty="0">
                <a:solidFill>
                  <a:srgbClr val="4A3F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🛒</a:t>
            </a:r>
            <a:endParaRPr lang="en-US" sz="1195" dirty="0"/>
          </a:p>
        </p:txBody>
      </p:sp>
      <p:sp>
        <p:nvSpPr>
          <p:cNvPr id="13" name="Text 10"/>
          <p:cNvSpPr/>
          <p:nvPr/>
        </p:nvSpPr>
        <p:spPr>
          <a:xfrm>
            <a:off x="3484476" y="2704802"/>
            <a:ext cx="1724546" cy="260747"/>
          </a:xfrm>
          <a:prstGeom prst="roundRect">
            <a:avLst>
              <a:gd name="adj" fmla="val 3649313"/>
            </a:avLst>
          </a:prstGeom>
          <a:solidFill>
            <a:srgbClr val="E3F2EA"/>
          </a:solidFill>
          <a:ln w="7144">
            <a:solidFill>
              <a:srgbClr val="A9D8C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768441" y="2702423"/>
            <a:ext cx="1481658" cy="126609"/>
          </a:xfrm>
          <a:prstGeom prst="rect">
            <a:avLst/>
          </a:prstGeom>
          <a:noFill/>
          <a:ln/>
        </p:spPr>
        <p:txBody>
          <a:bodyPr wrap="none" lIns="128588" tIns="57150" rIns="128588" bIns="5715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Tooling - Burp Suite + Firefox</a:t>
            </a:r>
            <a:endParaRPr lang="en-US" sz="731" dirty="0"/>
          </a:p>
        </p:txBody>
      </p:sp>
      <p:sp>
        <p:nvSpPr>
          <p:cNvPr id="15" name="Text 12"/>
          <p:cNvSpPr/>
          <p:nvPr/>
        </p:nvSpPr>
        <p:spPr>
          <a:xfrm>
            <a:off x="3616635" y="2774454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95" dirty="0">
                <a:solidFill>
                  <a:srgbClr val="4A3F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195" dirty="0"/>
          </a:p>
        </p:txBody>
      </p:sp>
      <p:sp>
        <p:nvSpPr>
          <p:cNvPr id="16" name="Text 13"/>
          <p:cNvSpPr/>
          <p:nvPr/>
        </p:nvSpPr>
        <p:spPr>
          <a:xfrm>
            <a:off x="5316178" y="2704802"/>
            <a:ext cx="2103723" cy="260747"/>
          </a:xfrm>
          <a:prstGeom prst="roundRect">
            <a:avLst>
              <a:gd name="adj" fmla="val 3649313"/>
            </a:avLst>
          </a:prstGeom>
          <a:solidFill>
            <a:srgbClr val="FFEEE5"/>
          </a:solidFill>
          <a:ln w="7144">
            <a:solidFill>
              <a:srgbClr val="FFD9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589426" y="2710156"/>
            <a:ext cx="1810829" cy="126609"/>
          </a:xfrm>
          <a:prstGeom prst="rect">
            <a:avLst/>
          </a:prstGeom>
          <a:noFill/>
          <a:ln/>
        </p:spPr>
        <p:txBody>
          <a:bodyPr wrap="none" lIns="128588" tIns="57150" rIns="128588" bIns="5715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Method - Manual Logic-Driven Testing</a:t>
            </a:r>
            <a:endParaRPr lang="en-US" sz="731" dirty="0"/>
          </a:p>
        </p:txBody>
      </p:sp>
      <p:sp>
        <p:nvSpPr>
          <p:cNvPr id="18" name="Text 15"/>
          <p:cNvSpPr/>
          <p:nvPr/>
        </p:nvSpPr>
        <p:spPr>
          <a:xfrm>
            <a:off x="5448337" y="2774454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95" dirty="0">
                <a:solidFill>
                  <a:srgbClr val="4A3F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195" dirty="0"/>
          </a:p>
        </p:txBody>
      </p:sp>
      <p:sp>
        <p:nvSpPr>
          <p:cNvPr id="19" name="Text 16"/>
          <p:cNvSpPr/>
          <p:nvPr/>
        </p:nvSpPr>
        <p:spPr>
          <a:xfrm>
            <a:off x="2786063" y="3297734"/>
            <a:ext cx="3571875" cy="782241"/>
          </a:xfrm>
          <a:prstGeom prst="roundRect">
            <a:avLst>
              <a:gd name="adj" fmla="val 17047"/>
            </a:avLst>
          </a:prstGeom>
          <a:solidFill>
            <a:srgbClr val="2E2937"/>
          </a:solidFill>
          <a:ln/>
          <a:effectLst>
            <a:outerShdw blurRad="342900" dist="152400" dir="5400000" algn="bl" rotWithShape="0">
              <a:srgbClr val="4A3F63">
                <a:alpha val="1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971800" y="3453110"/>
            <a:ext cx="64294" cy="64294"/>
          </a:xfrm>
          <a:prstGeom prst="ellipse">
            <a:avLst/>
          </a:prstGeom>
          <a:solidFill>
            <a:srgbClr val="F6CFD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3086100" y="3453110"/>
            <a:ext cx="64294" cy="64294"/>
          </a:xfrm>
          <a:prstGeom prst="ellipse">
            <a:avLst/>
          </a:prstGeom>
          <a:solidFill>
            <a:srgbClr val="FFD9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3200400" y="3453110"/>
            <a:ext cx="64294" cy="64294"/>
          </a:xfrm>
          <a:prstGeom prst="ellipse">
            <a:avLst/>
          </a:prstGeom>
          <a:solidFill>
            <a:srgbClr val="A9D8C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3371850" y="3426321"/>
            <a:ext cx="28003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90" dirty="0">
                <a:solidFill>
                  <a:srgbClr val="C9B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payload that started everything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2971800" y="3651349"/>
            <a:ext cx="1297734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31"/>
              </a:lnSpc>
              <a:buNone/>
            </a:pPr>
            <a:r>
              <a:rPr lang="en-US" sz="1688" b="1" kern="0" spc="28" dirty="0">
                <a:solidFill>
                  <a:srgbClr val="B9E4C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' or 1=1--</a:t>
            </a:r>
            <a:endParaRPr lang="en-US" sz="1688" dirty="0"/>
          </a:p>
        </p:txBody>
      </p:sp>
      <p:sp>
        <p:nvSpPr>
          <p:cNvPr id="25" name="Text 22"/>
          <p:cNvSpPr/>
          <p:nvPr/>
        </p:nvSpPr>
        <p:spPr>
          <a:xfrm>
            <a:off x="4150519" y="3680594"/>
            <a:ext cx="100013" cy="203597"/>
          </a:xfrm>
          <a:prstGeom prst="roundRect">
            <a:avLst>
              <a:gd name="adj" fmla="val 28571"/>
            </a:avLst>
          </a:prstGeom>
          <a:solidFill>
            <a:srgbClr val="B9E4C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0" y="4825603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kern="0" spc="101" dirty="0">
                <a:solidFill>
                  <a:srgbClr val="776D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Local Isolated Lab - No Real Users, No Real Data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72438" y="-500062"/>
            <a:ext cx="1500188" cy="1500188"/>
          </a:xfrm>
          <a:prstGeom prst="ellipse">
            <a:avLst/>
          </a:prstGeom>
          <a:solidFill>
            <a:srgbClr val="A9D8C0">
              <a:alpha val="2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500062" y="4357688"/>
            <a:ext cx="1357313" cy="1357313"/>
          </a:xfrm>
          <a:prstGeom prst="ellipse">
            <a:avLst/>
          </a:prstGeom>
          <a:solidFill>
            <a:srgbClr val="C9B8E8">
              <a:alpha val="2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8625" y="400050"/>
            <a:ext cx="652214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157" dirty="0">
                <a:solidFill>
                  <a:srgbClr val="776D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SETUP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28625" y="610791"/>
            <a:ext cx="4636986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2025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at a Glance</a:t>
            </a:r>
            <a:endParaRPr lang="en-US" sz="2025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1096566"/>
            <a:ext cx="400050" cy="500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2197" y="1321594"/>
            <a:ext cx="4409033" cy="560784"/>
          </a:xfrm>
          <a:prstGeom prst="roundRect">
            <a:avLst>
              <a:gd name="adj" fmla="val 33970"/>
            </a:avLst>
          </a:prstGeom>
          <a:solidFill>
            <a:srgbClr val="FFFFFF"/>
          </a:solidFill>
          <a:ln w="7144">
            <a:solidFill>
              <a:srgbClr val="EAE4F2"/>
            </a:solidFill>
            <a:prstDash val="solid"/>
          </a:ln>
          <a:effectLst>
            <a:outerShdw blurRad="304800" dist="114300" dir="5400000" algn="bl" rotWithShape="0">
              <a:srgbClr val="4A3F63">
                <a:alpha val="9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78644" y="1432322"/>
            <a:ext cx="328613" cy="328613"/>
          </a:xfrm>
          <a:prstGeom prst="roundRect">
            <a:avLst>
              <a:gd name="adj" fmla="val 40580"/>
            </a:avLst>
          </a:prstGeom>
          <a:solidFill>
            <a:srgbClr val="E3F2E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18649" y="1472327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4A3F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🛒</a:t>
            </a:r>
            <a:endParaRPr lang="en-US" sz="1688" dirty="0"/>
          </a:p>
        </p:txBody>
      </p:sp>
      <p:sp>
        <p:nvSpPr>
          <p:cNvPr id="10" name="Text 7"/>
          <p:cNvSpPr/>
          <p:nvPr/>
        </p:nvSpPr>
        <p:spPr>
          <a:xfrm>
            <a:off x="1021556" y="1432322"/>
            <a:ext cx="3673227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8"/>
              </a:lnSpc>
              <a:buNone/>
            </a:pPr>
            <a:r>
              <a:rPr lang="en-US" sz="844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</a:t>
            </a:r>
            <a:r>
              <a:rPr lang="en-US" sz="844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- OWASP Juice Shop running locally via Docker at </a:t>
            </a:r>
            <a:r>
              <a:rPr lang="en-US" sz="844" b="1" dirty="0">
                <a:solidFill>
                  <a:srgbClr val="4A3F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localhost:3000</a:t>
            </a:r>
            <a:r>
              <a:rPr lang="en-US" sz="844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an intentionally vulnerable training app in a fully isolated environment.</a:t>
            </a:r>
            <a:endParaRPr lang="en-US" sz="844" dirty="0"/>
          </a:p>
        </p:txBody>
      </p:sp>
      <p:sp>
        <p:nvSpPr>
          <p:cNvPr id="11" name="Text 8"/>
          <p:cNvSpPr/>
          <p:nvPr/>
        </p:nvSpPr>
        <p:spPr>
          <a:xfrm>
            <a:off x="432197" y="1982391"/>
            <a:ext cx="4409033" cy="553641"/>
          </a:xfrm>
          <a:prstGeom prst="roundRect">
            <a:avLst>
              <a:gd name="adj" fmla="val 34409"/>
            </a:avLst>
          </a:prstGeom>
          <a:solidFill>
            <a:srgbClr val="FFFFFF"/>
          </a:solidFill>
          <a:ln w="7144">
            <a:solidFill>
              <a:srgbClr val="EAE4F2"/>
            </a:solidFill>
            <a:prstDash val="solid"/>
          </a:ln>
          <a:effectLst>
            <a:outerShdw blurRad="304800" dist="114300" dir="5400000" algn="bl" rotWithShape="0">
              <a:srgbClr val="4A3F63">
                <a:alpha val="9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78644" y="2093119"/>
            <a:ext cx="328613" cy="328613"/>
          </a:xfrm>
          <a:prstGeom prst="roundRect">
            <a:avLst>
              <a:gd name="adj" fmla="val 40580"/>
            </a:avLst>
          </a:prstGeom>
          <a:solidFill>
            <a:srgbClr val="F0EA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18649" y="2133124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4A3F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688" dirty="0"/>
          </a:p>
        </p:txBody>
      </p:sp>
      <p:sp>
        <p:nvSpPr>
          <p:cNvPr id="14" name="Text 11"/>
          <p:cNvSpPr/>
          <p:nvPr/>
        </p:nvSpPr>
        <p:spPr>
          <a:xfrm>
            <a:off x="1021556" y="2093119"/>
            <a:ext cx="3673227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8"/>
              </a:lnSpc>
              <a:buNone/>
            </a:pPr>
            <a:r>
              <a:rPr lang="en-US" sz="844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Tooling</a:t>
            </a:r>
            <a:r>
              <a:rPr lang="en-US" sz="844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- Burp Suite Community Edition (Proxy, Repeater, HTTP history) with Firefox routed through the Burp proxy.</a:t>
            </a:r>
            <a:endParaRPr lang="en-US" sz="844" dirty="0"/>
          </a:p>
        </p:txBody>
      </p:sp>
      <p:sp>
        <p:nvSpPr>
          <p:cNvPr id="15" name="Text 12"/>
          <p:cNvSpPr/>
          <p:nvPr/>
        </p:nvSpPr>
        <p:spPr>
          <a:xfrm>
            <a:off x="432197" y="2636044"/>
            <a:ext cx="4409033" cy="553641"/>
          </a:xfrm>
          <a:prstGeom prst="roundRect">
            <a:avLst>
              <a:gd name="adj" fmla="val 34409"/>
            </a:avLst>
          </a:prstGeom>
          <a:solidFill>
            <a:srgbClr val="FFFFFF"/>
          </a:solidFill>
          <a:ln w="7144">
            <a:solidFill>
              <a:srgbClr val="EAE4F2"/>
            </a:solidFill>
            <a:prstDash val="solid"/>
          </a:ln>
          <a:effectLst>
            <a:outerShdw blurRad="304800" dist="114300" dir="5400000" algn="bl" rotWithShape="0">
              <a:srgbClr val="4A3F63">
                <a:alpha val="9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78644" y="2746772"/>
            <a:ext cx="328613" cy="328613"/>
          </a:xfrm>
          <a:prstGeom prst="roundRect">
            <a:avLst>
              <a:gd name="adj" fmla="val 40580"/>
            </a:avLst>
          </a:prstGeom>
          <a:solidFill>
            <a:srgbClr val="FFEE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18649" y="2786777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4A3F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688" dirty="0"/>
          </a:p>
        </p:txBody>
      </p:sp>
      <p:sp>
        <p:nvSpPr>
          <p:cNvPr id="18" name="Text 15"/>
          <p:cNvSpPr/>
          <p:nvPr/>
        </p:nvSpPr>
        <p:spPr>
          <a:xfrm>
            <a:off x="1021556" y="2746772"/>
            <a:ext cx="3673227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8"/>
              </a:lnSpc>
              <a:buNone/>
            </a:pPr>
            <a:r>
              <a:rPr lang="en-US" sz="844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Method</a:t>
            </a:r>
            <a:r>
              <a:rPr lang="en-US" sz="844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- Manual, logic-driven testing. No automated mass scanning - every step was hand-crafted.</a:t>
            </a:r>
            <a:endParaRPr lang="en-US" sz="844" dirty="0"/>
          </a:p>
        </p:txBody>
      </p:sp>
      <p:sp>
        <p:nvSpPr>
          <p:cNvPr id="19" name="Text 16"/>
          <p:cNvSpPr/>
          <p:nvPr/>
        </p:nvSpPr>
        <p:spPr>
          <a:xfrm>
            <a:off x="428625" y="3309042"/>
            <a:ext cx="825103" cy="245274"/>
          </a:xfrm>
          <a:prstGeom prst="roundRect">
            <a:avLst>
              <a:gd name="adj" fmla="val 3879529"/>
            </a:avLst>
          </a:prstGeom>
          <a:solidFill>
            <a:srgbClr val="F0EAF9"/>
          </a:solidFill>
          <a:ln w="7144">
            <a:solidFill>
              <a:srgbClr val="C9B8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28625" y="3321844"/>
            <a:ext cx="825103" cy="2196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Authentication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310878" y="3309042"/>
            <a:ext cx="805346" cy="245274"/>
          </a:xfrm>
          <a:prstGeom prst="roundRect">
            <a:avLst>
              <a:gd name="adj" fmla="val 3879529"/>
            </a:avLst>
          </a:prstGeom>
          <a:solidFill>
            <a:srgbClr val="E3F2EA"/>
          </a:solidFill>
          <a:ln w="7144">
            <a:solidFill>
              <a:srgbClr val="A9D8C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1310878" y="3321844"/>
            <a:ext cx="805346" cy="2196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 Routes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2173374" y="3309042"/>
            <a:ext cx="1062968" cy="245274"/>
          </a:xfrm>
          <a:prstGeom prst="roundRect">
            <a:avLst>
              <a:gd name="adj" fmla="val 3879529"/>
            </a:avLst>
          </a:prstGeom>
          <a:solidFill>
            <a:srgbClr val="FFEEE5"/>
          </a:solidFill>
          <a:ln w="7144">
            <a:solidFill>
              <a:srgbClr val="FFD9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2173374" y="3321844"/>
            <a:ext cx="1062968" cy="2196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Users + Basket APIs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3293492" y="3309042"/>
            <a:ext cx="869863" cy="245274"/>
          </a:xfrm>
          <a:prstGeom prst="roundRect">
            <a:avLst>
              <a:gd name="adj" fmla="val 3879529"/>
            </a:avLst>
          </a:prstGeom>
          <a:solidFill>
            <a:srgbClr val="FBEAF0"/>
          </a:solidFill>
          <a:ln w="7144">
            <a:solidFill>
              <a:srgbClr val="F6CFDD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3293492" y="3321844"/>
            <a:ext cx="869863" cy="2196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Checkout Logic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05765" y="3585862"/>
            <a:ext cx="919043" cy="245274"/>
          </a:xfrm>
          <a:prstGeom prst="roundRect">
            <a:avLst>
              <a:gd name="adj" fmla="val 3879529"/>
            </a:avLst>
          </a:prstGeom>
          <a:solidFill>
            <a:srgbClr val="F0EAF9"/>
          </a:solidFill>
          <a:ln w="7144">
            <a:solidFill>
              <a:srgbClr val="C9B8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28625" y="3598664"/>
            <a:ext cx="873323" cy="2196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Session Tokens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32197" y="4357688"/>
            <a:ext cx="4409033" cy="382191"/>
          </a:xfrm>
          <a:prstGeom prst="roundRect">
            <a:avLst>
              <a:gd name="adj" fmla="val 2489717"/>
            </a:avLst>
          </a:prstGeom>
          <a:solidFill>
            <a:srgbClr val="F0EAF9"/>
          </a:solidFill>
          <a:ln w="7144">
            <a:solidFill>
              <a:srgbClr val="EAE4F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1291879" y="4446984"/>
            <a:ext cx="146807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4A3F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1069" dirty="0"/>
          </a:p>
        </p:txBody>
      </p:sp>
      <p:sp>
        <p:nvSpPr>
          <p:cNvPr id="31" name="Text 28"/>
          <p:cNvSpPr/>
          <p:nvPr/>
        </p:nvSpPr>
        <p:spPr>
          <a:xfrm>
            <a:off x="1443149" y="4479131"/>
            <a:ext cx="780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vulnerabilities</a:t>
            </a:r>
            <a:endParaRPr lang="en-US" sz="731" dirty="0"/>
          </a:p>
        </p:txBody>
      </p:sp>
      <p:sp>
        <p:nvSpPr>
          <p:cNvPr id="32" name="Text 29"/>
          <p:cNvSpPr/>
          <p:nvPr/>
        </p:nvSpPr>
        <p:spPr>
          <a:xfrm>
            <a:off x="2131963" y="4479131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4A3F63">
                    <a:alpha val="4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-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2208176" y="4446984"/>
            <a:ext cx="146807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4A3F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1069" dirty="0"/>
          </a:p>
        </p:txBody>
      </p:sp>
      <p:sp>
        <p:nvSpPr>
          <p:cNvPr id="34" name="Text 31"/>
          <p:cNvSpPr/>
          <p:nvPr/>
        </p:nvSpPr>
        <p:spPr>
          <a:xfrm>
            <a:off x="2359447" y="4479131"/>
            <a:ext cx="84511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chained exploit</a:t>
            </a:r>
            <a:endParaRPr lang="en-US" sz="731" dirty="0"/>
          </a:p>
        </p:txBody>
      </p:sp>
      <p:sp>
        <p:nvSpPr>
          <p:cNvPr id="35" name="Text 32"/>
          <p:cNvSpPr/>
          <p:nvPr/>
        </p:nvSpPr>
        <p:spPr>
          <a:xfrm>
            <a:off x="3099829" y="4479131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4A3F63">
                    <a:alpha val="4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-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3176043" y="4446984"/>
            <a:ext cx="146807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4A3F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069" dirty="0"/>
          </a:p>
        </p:txBody>
      </p:sp>
      <p:sp>
        <p:nvSpPr>
          <p:cNvPr id="37" name="Text 34"/>
          <p:cNvSpPr/>
          <p:nvPr/>
        </p:nvSpPr>
        <p:spPr>
          <a:xfrm>
            <a:off x="3327313" y="4479131"/>
            <a:ext cx="135318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severity levels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105549" y="976908"/>
            <a:ext cx="3606254" cy="2950369"/>
          </a:xfrm>
          <a:prstGeom prst="roundRect">
            <a:avLst>
              <a:gd name="adj" fmla="val 4520"/>
            </a:avLst>
          </a:prstGeom>
          <a:solidFill>
            <a:srgbClr val="FFFFFF"/>
          </a:solidFill>
          <a:ln w="7144">
            <a:solidFill>
              <a:srgbClr val="EAE4F2"/>
            </a:solidFill>
            <a:prstDash val="solid"/>
          </a:ln>
          <a:effectLst>
            <a:outerShdw blurRad="247650" dist="95250" dir="5400000" algn="bl" rotWithShape="0">
              <a:srgbClr val="4A3F63">
                <a:alpha val="12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9" name="Image 1" descr="/tmp/h2p-fit-1791982713033-vwyyv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131" y="1037631"/>
            <a:ext cx="3466951" cy="2814426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7828121" y="861108"/>
            <a:ext cx="795814" cy="228029"/>
          </a:xfrm>
          <a:prstGeom prst="roundRect">
            <a:avLst>
              <a:gd name="adj" fmla="val 4172923"/>
            </a:avLst>
          </a:prstGeom>
          <a:solidFill>
            <a:srgbClr val="FFFFFF"/>
          </a:solidFill>
          <a:ln w="7144">
            <a:solidFill>
              <a:srgbClr val="EAE4F2"/>
            </a:solidFill>
            <a:prstDash val="solid"/>
          </a:ln>
          <a:effectLst>
            <a:outerShdw blurRad="171450" dist="76200" dir="5400000" algn="bl" rotWithShape="0">
              <a:srgbClr val="4A3F63">
                <a:alpha val="12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7850981" y="864087"/>
            <a:ext cx="750094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dirty="0">
                <a:solidFill>
                  <a:srgbClr val="4A3F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localhost:3000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4957441" y="4030861"/>
            <a:ext cx="39024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776D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OWASP Juice Shop home page - the main entry point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72438" y="-642937"/>
            <a:ext cx="1643063" cy="1643063"/>
          </a:xfrm>
          <a:prstGeom prst="ellipse">
            <a:avLst/>
          </a:prstGeom>
          <a:solidFill>
            <a:srgbClr val="FFD9C7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500062" y="4357688"/>
            <a:ext cx="1428750" cy="1428750"/>
          </a:xfrm>
          <a:prstGeom prst="ellipse">
            <a:avLst/>
          </a:prstGeom>
          <a:solidFill>
            <a:srgbClr val="A9D8C0">
              <a:alpha val="2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8625" y="616148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kern="0" spc="157" dirty="0">
                <a:solidFill>
                  <a:srgbClr val="776D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PLAN OF ATTACK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28625" y="826889"/>
            <a:ext cx="8636000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2025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Chain, Five Steps</a:t>
            </a:r>
            <a:endParaRPr lang="en-US" sz="2025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1312664"/>
            <a:ext cx="400050" cy="500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28625" y="1462683"/>
            <a:ext cx="6715125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776D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step alone looks like a small finding - chained together they end in full compromise.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26202" y="1820764"/>
            <a:ext cx="1570174" cy="2078831"/>
          </a:xfrm>
          <a:prstGeom prst="roundRect">
            <a:avLst>
              <a:gd name="adj" fmla="val 12132"/>
            </a:avLst>
          </a:prstGeom>
          <a:solidFill>
            <a:srgbClr val="FFFFFF"/>
          </a:solidFill>
          <a:ln w="7144">
            <a:solidFill>
              <a:srgbClr val="EAE4F2"/>
            </a:solidFill>
            <a:prstDash val="solid"/>
          </a:ln>
          <a:effectLst>
            <a:outerShdw blurRad="304800" dist="114300" dir="5400000" algn="bl" rotWithShape="0">
              <a:srgbClr val="4A3F63">
                <a:alpha val="9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7213" y="1977033"/>
            <a:ext cx="257175" cy="257175"/>
          </a:xfrm>
          <a:prstGeom prst="ellipse">
            <a:avLst/>
          </a:prstGeom>
          <a:solidFill>
            <a:srgbClr val="F0EAF9"/>
          </a:solidFill>
          <a:ln w="14288">
            <a:solidFill>
              <a:srgbClr val="C9B8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61460" y="1969889"/>
            <a:ext cx="1048680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A3F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12431" y="1969888"/>
            <a:ext cx="271463" cy="271463"/>
          </a:xfrm>
          <a:prstGeom prst="roundRect">
            <a:avLst>
              <a:gd name="adj" fmla="val 42105"/>
            </a:avLst>
          </a:prstGeom>
          <a:solidFill>
            <a:srgbClr val="F0EA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639398" y="1993759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77" dirty="0">
                <a:solidFill>
                  <a:srgbClr val="4A3F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477" dirty="0"/>
          </a:p>
        </p:txBody>
      </p:sp>
      <p:sp>
        <p:nvSpPr>
          <p:cNvPr id="13" name="Text 10"/>
          <p:cNvSpPr/>
          <p:nvPr/>
        </p:nvSpPr>
        <p:spPr>
          <a:xfrm>
            <a:off x="550069" y="2341364"/>
            <a:ext cx="214313" cy="35719"/>
          </a:xfrm>
          <a:prstGeom prst="roundRect">
            <a:avLst>
              <a:gd name="adj" fmla="val 26639814"/>
            </a:avLst>
          </a:prstGeom>
          <a:solidFill>
            <a:srgbClr val="C9B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50069" y="2448520"/>
            <a:ext cx="133443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SQL Injection</a:t>
            </a:r>
            <a:endParaRPr lang="en-US" sz="1013" dirty="0"/>
          </a:p>
        </p:txBody>
      </p:sp>
      <p:sp>
        <p:nvSpPr>
          <p:cNvPr id="15" name="Text 12"/>
          <p:cNvSpPr/>
          <p:nvPr/>
        </p:nvSpPr>
        <p:spPr>
          <a:xfrm>
            <a:off x="550069" y="2666405"/>
            <a:ext cx="1414496" cy="50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dirty="0">
                <a:solidFill>
                  <a:srgbClr val="776D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Login bypass straight to the admin account, no password needed.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109527" y="1837730"/>
            <a:ext cx="1570286" cy="2078831"/>
          </a:xfrm>
          <a:prstGeom prst="roundRect">
            <a:avLst>
              <a:gd name="adj" fmla="val 12132"/>
            </a:avLst>
          </a:prstGeom>
          <a:solidFill>
            <a:srgbClr val="FFFFFF"/>
          </a:solidFill>
          <a:ln w="7144">
            <a:solidFill>
              <a:srgbClr val="EAE4F2"/>
            </a:solidFill>
            <a:prstDash val="solid"/>
          </a:ln>
          <a:effectLst>
            <a:outerShdw blurRad="304800" dist="114300" dir="5400000" algn="bl" rotWithShape="0">
              <a:srgbClr val="4A3F63">
                <a:alpha val="9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234543" y="1977033"/>
            <a:ext cx="257175" cy="257175"/>
          </a:xfrm>
          <a:prstGeom prst="ellipse">
            <a:avLst/>
          </a:prstGeom>
          <a:solidFill>
            <a:srgbClr val="E3F2EA"/>
          </a:solidFill>
          <a:ln w="14288">
            <a:solidFill>
              <a:srgbClr val="A9D8C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1838734" y="1946924"/>
            <a:ext cx="1048792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A3F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290478" y="1969889"/>
            <a:ext cx="271463" cy="271463"/>
          </a:xfrm>
          <a:prstGeom prst="roundRect">
            <a:avLst>
              <a:gd name="adj" fmla="val 42105"/>
            </a:avLst>
          </a:prstGeom>
          <a:solidFill>
            <a:srgbClr val="E3F2E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3317445" y="2017373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77" dirty="0">
                <a:solidFill>
                  <a:srgbClr val="4A3F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77" dirty="0"/>
          </a:p>
        </p:txBody>
      </p:sp>
      <p:sp>
        <p:nvSpPr>
          <p:cNvPr id="21" name="Text 18"/>
          <p:cNvSpPr/>
          <p:nvPr/>
        </p:nvSpPr>
        <p:spPr>
          <a:xfrm>
            <a:off x="2227399" y="2341364"/>
            <a:ext cx="214313" cy="35719"/>
          </a:xfrm>
          <a:prstGeom prst="roundRect">
            <a:avLst>
              <a:gd name="adj" fmla="val 26639814"/>
            </a:avLst>
          </a:prstGeom>
          <a:solidFill>
            <a:srgbClr val="A9D8C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2227399" y="2448520"/>
            <a:ext cx="1334542" cy="347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Broken Access Control</a:t>
            </a:r>
            <a:endParaRPr lang="en-US" sz="1013" dirty="0"/>
          </a:p>
        </p:txBody>
      </p:sp>
      <p:sp>
        <p:nvSpPr>
          <p:cNvPr id="23" name="Text 20"/>
          <p:cNvSpPr/>
          <p:nvPr/>
        </p:nvSpPr>
        <p:spPr>
          <a:xfrm>
            <a:off x="2227399" y="2827139"/>
            <a:ext cx="1414614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dirty="0">
                <a:solidFill>
                  <a:srgbClr val="776D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Hidden admin panel rendered fully, no server-side role check.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786969" y="1837730"/>
            <a:ext cx="1570174" cy="2078831"/>
          </a:xfrm>
          <a:prstGeom prst="roundRect">
            <a:avLst>
              <a:gd name="adj" fmla="val 12132"/>
            </a:avLst>
          </a:prstGeom>
          <a:solidFill>
            <a:srgbClr val="FFFFFF"/>
          </a:solidFill>
          <a:ln w="7144">
            <a:solidFill>
              <a:srgbClr val="EAE4F2"/>
            </a:solidFill>
            <a:prstDash val="solid"/>
          </a:ln>
          <a:effectLst>
            <a:outerShdw blurRad="304800" dist="114300" dir="5400000" algn="bl" rotWithShape="0">
              <a:srgbClr val="4A3F63">
                <a:alpha val="9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3911984" y="1977033"/>
            <a:ext cx="257175" cy="257175"/>
          </a:xfrm>
          <a:prstGeom prst="ellipse">
            <a:avLst/>
          </a:prstGeom>
          <a:solidFill>
            <a:srgbClr val="FFEEE5"/>
          </a:solidFill>
          <a:ln w="14288">
            <a:solidFill>
              <a:srgbClr val="FFD9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3523320" y="1969889"/>
            <a:ext cx="1048680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A3F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967808" y="1969889"/>
            <a:ext cx="271463" cy="271463"/>
          </a:xfrm>
          <a:prstGeom prst="roundRect">
            <a:avLst>
              <a:gd name="adj" fmla="val 42105"/>
            </a:avLst>
          </a:prstGeom>
          <a:solidFill>
            <a:srgbClr val="FFEE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994776" y="1996857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77" dirty="0">
                <a:solidFill>
                  <a:srgbClr val="4A3F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477" dirty="0"/>
          </a:p>
        </p:txBody>
      </p:sp>
      <p:sp>
        <p:nvSpPr>
          <p:cNvPr id="29" name="Text 26"/>
          <p:cNvSpPr/>
          <p:nvPr/>
        </p:nvSpPr>
        <p:spPr>
          <a:xfrm>
            <a:off x="3904841" y="2341364"/>
            <a:ext cx="214313" cy="35719"/>
          </a:xfrm>
          <a:prstGeom prst="roundRect">
            <a:avLst>
              <a:gd name="adj" fmla="val 26639814"/>
            </a:avLst>
          </a:prstGeom>
          <a:solidFill>
            <a:srgbClr val="FFD9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3904841" y="2448520"/>
            <a:ext cx="133443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IDOR</a:t>
            </a:r>
            <a:endParaRPr lang="en-US" sz="1013" dirty="0"/>
          </a:p>
        </p:txBody>
      </p:sp>
      <p:sp>
        <p:nvSpPr>
          <p:cNvPr id="31" name="Text 28"/>
          <p:cNvSpPr/>
          <p:nvPr/>
        </p:nvSpPr>
        <p:spPr>
          <a:xfrm>
            <a:off x="3904841" y="2666405"/>
            <a:ext cx="1414496" cy="50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dirty="0">
                <a:solidFill>
                  <a:srgbClr val="776D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Other customers baskets read by changing one number in the URL.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464299" y="1837730"/>
            <a:ext cx="1570174" cy="2078831"/>
          </a:xfrm>
          <a:prstGeom prst="roundRect">
            <a:avLst>
              <a:gd name="adj" fmla="val 12132"/>
            </a:avLst>
          </a:prstGeom>
          <a:solidFill>
            <a:srgbClr val="FFFFFF"/>
          </a:solidFill>
          <a:ln w="7144">
            <a:solidFill>
              <a:srgbClr val="EAE4F2"/>
            </a:solidFill>
            <a:prstDash val="solid"/>
          </a:ln>
          <a:effectLst>
            <a:outerShdw blurRad="304800" dist="114300" dir="5400000" algn="bl" rotWithShape="0">
              <a:srgbClr val="4A3F63">
                <a:alpha val="9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5589315" y="1977033"/>
            <a:ext cx="257175" cy="257175"/>
          </a:xfrm>
          <a:prstGeom prst="ellipse">
            <a:avLst/>
          </a:prstGeom>
          <a:solidFill>
            <a:srgbClr val="FBEAF0"/>
          </a:solidFill>
          <a:ln w="14288">
            <a:solidFill>
              <a:srgbClr val="F6CFDD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5200706" y="1956528"/>
            <a:ext cx="1048680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A3F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645139" y="1969889"/>
            <a:ext cx="271463" cy="271463"/>
          </a:xfrm>
          <a:prstGeom prst="roundRect">
            <a:avLst>
              <a:gd name="adj" fmla="val 42105"/>
            </a:avLst>
          </a:prstGeom>
          <a:solidFill>
            <a:srgbClr val="FBEA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6672106" y="1996857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77" dirty="0">
                <a:solidFill>
                  <a:srgbClr val="4A3F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477" dirty="0"/>
          </a:p>
        </p:txBody>
      </p:sp>
      <p:sp>
        <p:nvSpPr>
          <p:cNvPr id="37" name="Text 34"/>
          <p:cNvSpPr/>
          <p:nvPr/>
        </p:nvSpPr>
        <p:spPr>
          <a:xfrm>
            <a:off x="5582171" y="2341364"/>
            <a:ext cx="214313" cy="35719"/>
          </a:xfrm>
          <a:prstGeom prst="roundRect">
            <a:avLst>
              <a:gd name="adj" fmla="val 26639814"/>
            </a:avLst>
          </a:prstGeom>
          <a:solidFill>
            <a:srgbClr val="F6CFD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5582171" y="2448520"/>
            <a:ext cx="133443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Parameter Tampering</a:t>
            </a:r>
            <a:endParaRPr lang="en-US" sz="1013" dirty="0"/>
          </a:p>
        </p:txBody>
      </p:sp>
      <p:sp>
        <p:nvSpPr>
          <p:cNvPr id="39" name="Text 36"/>
          <p:cNvSpPr/>
          <p:nvPr/>
        </p:nvSpPr>
        <p:spPr>
          <a:xfrm>
            <a:off x="5582171" y="2666405"/>
            <a:ext cx="1414496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dirty="0">
                <a:solidFill>
                  <a:srgbClr val="776D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Negative quantities accepted by the server without validation.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7141629" y="1837730"/>
            <a:ext cx="1570174" cy="2078831"/>
          </a:xfrm>
          <a:prstGeom prst="roundRect">
            <a:avLst>
              <a:gd name="adj" fmla="val 12132"/>
            </a:avLst>
          </a:prstGeom>
          <a:solidFill>
            <a:srgbClr val="FFFFFF"/>
          </a:solidFill>
          <a:ln w="7144">
            <a:solidFill>
              <a:srgbClr val="EAE4F2"/>
            </a:solidFill>
            <a:prstDash val="solid"/>
          </a:ln>
          <a:effectLst>
            <a:outerShdw blurRad="304800" dist="114300" dir="5400000" algn="bl" rotWithShape="0">
              <a:srgbClr val="4A3F63">
                <a:alpha val="9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7266645" y="1977033"/>
            <a:ext cx="257175" cy="257175"/>
          </a:xfrm>
          <a:prstGeom prst="ellipse">
            <a:avLst/>
          </a:prstGeom>
          <a:solidFill>
            <a:srgbClr val="F0EAF9"/>
          </a:solidFill>
          <a:ln w="14288">
            <a:solidFill>
              <a:srgbClr val="C9B8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6880000" y="1969889"/>
            <a:ext cx="1048680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A3F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8322469" y="1969889"/>
            <a:ext cx="271463" cy="271463"/>
          </a:xfrm>
          <a:prstGeom prst="roundRect">
            <a:avLst>
              <a:gd name="adj" fmla="val 42105"/>
            </a:avLst>
          </a:prstGeom>
          <a:solidFill>
            <a:srgbClr val="F0EA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8349436" y="1996857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77" dirty="0">
                <a:solidFill>
                  <a:srgbClr val="4A3F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477" dirty="0"/>
          </a:p>
        </p:txBody>
      </p:sp>
      <p:sp>
        <p:nvSpPr>
          <p:cNvPr id="45" name="Text 42"/>
          <p:cNvSpPr/>
          <p:nvPr/>
        </p:nvSpPr>
        <p:spPr>
          <a:xfrm>
            <a:off x="7259501" y="2341364"/>
            <a:ext cx="214313" cy="35719"/>
          </a:xfrm>
          <a:prstGeom prst="roundRect">
            <a:avLst>
              <a:gd name="adj" fmla="val 26639814"/>
            </a:avLst>
          </a:prstGeom>
          <a:solidFill>
            <a:srgbClr val="C9B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7259501" y="2448520"/>
            <a:ext cx="133443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Weak Session</a:t>
            </a:r>
            <a:endParaRPr lang="en-US" sz="1013" dirty="0"/>
          </a:p>
        </p:txBody>
      </p:sp>
      <p:sp>
        <p:nvSpPr>
          <p:cNvPr id="47" name="Text 44"/>
          <p:cNvSpPr/>
          <p:nvPr/>
        </p:nvSpPr>
        <p:spPr>
          <a:xfrm>
            <a:off x="7259501" y="2666405"/>
            <a:ext cx="1414496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dirty="0">
                <a:solidFill>
                  <a:srgbClr val="776D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token still works after the user logs out.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432197" y="4138017"/>
            <a:ext cx="8279606" cy="385763"/>
          </a:xfrm>
          <a:prstGeom prst="roundRect">
            <a:avLst>
              <a:gd name="adj" fmla="val 44444"/>
            </a:avLst>
          </a:prstGeom>
          <a:solidFill>
            <a:srgbClr val="E3F2EA"/>
          </a:solidFill>
          <a:ln w="7144">
            <a:solidFill>
              <a:srgbClr val="EAE4F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1915306" y="4255889"/>
            <a:ext cx="113225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Anonymous visitor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2906837" y="426660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4A3F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51" name="Text 48"/>
          <p:cNvSpPr/>
          <p:nvPr/>
        </p:nvSpPr>
        <p:spPr>
          <a:xfrm>
            <a:off x="3121149" y="4255889"/>
            <a:ext cx="93803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 takeover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3957303" y="426660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4A3F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53" name="Text 50"/>
          <p:cNvSpPr/>
          <p:nvPr/>
        </p:nvSpPr>
        <p:spPr>
          <a:xfrm>
            <a:off x="4171615" y="4255889"/>
            <a:ext cx="8615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exposure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4946600" y="426660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4A3F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55" name="Text 52"/>
          <p:cNvSpPr/>
          <p:nvPr/>
        </p:nvSpPr>
        <p:spPr>
          <a:xfrm>
            <a:off x="5160913" y="4255889"/>
            <a:ext cx="115304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Order manipulation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6169075" y="426660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4A3F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57" name="Text 54"/>
          <p:cNvSpPr/>
          <p:nvPr/>
        </p:nvSpPr>
        <p:spPr>
          <a:xfrm>
            <a:off x="6383387" y="4255889"/>
            <a:ext cx="215339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Persistent access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43875" y="-642937"/>
            <a:ext cx="1571625" cy="1571625"/>
          </a:xfrm>
          <a:prstGeom prst="ellipse">
            <a:avLst/>
          </a:prstGeom>
          <a:solidFill>
            <a:srgbClr val="A9D8C0">
              <a:alpha val="2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500062" y="4393406"/>
            <a:ext cx="1357313" cy="1357313"/>
          </a:xfrm>
          <a:prstGeom prst="ellipse">
            <a:avLst/>
          </a:prstGeom>
          <a:solidFill>
            <a:srgbClr val="C9B8E8">
              <a:alpha val="2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5765" y="344386"/>
            <a:ext cx="927415" cy="243488"/>
          </a:xfrm>
          <a:prstGeom prst="roundRect">
            <a:avLst>
              <a:gd name="adj" fmla="val 3907985"/>
            </a:avLst>
          </a:prstGeom>
          <a:solidFill>
            <a:srgbClr val="F0EAF9"/>
          </a:solidFill>
          <a:ln w="7144">
            <a:solidFill>
              <a:srgbClr val="C9B8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28625" y="357188"/>
            <a:ext cx="88169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kern="0" spc="124" dirty="0">
                <a:solidFill>
                  <a:srgbClr val="4A3F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1 OF 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28625" y="675084"/>
            <a:ext cx="8636000" cy="41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2025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Authentication Bypass via SQL Injection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428625" y="1209080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5" dirty="0">
                <a:solidFill>
                  <a:srgbClr val="776D9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055" dirty="0"/>
          </a:p>
        </p:txBody>
      </p:sp>
      <p:sp>
        <p:nvSpPr>
          <p:cNvPr id="8" name="Text 6"/>
          <p:cNvSpPr/>
          <p:nvPr/>
        </p:nvSpPr>
        <p:spPr>
          <a:xfrm>
            <a:off x="585788" y="1203722"/>
            <a:ext cx="371754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90" dirty="0">
                <a:solidFill>
                  <a:srgbClr val="776D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payload entered in the login email field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28625" y="1378744"/>
            <a:ext cx="3874703" cy="839391"/>
          </a:xfrm>
          <a:prstGeom prst="roundRect">
            <a:avLst>
              <a:gd name="adj" fmla="val 15887"/>
            </a:avLst>
          </a:prstGeom>
          <a:solidFill>
            <a:srgbClr val="2E2937"/>
          </a:solidFill>
          <a:ln/>
          <a:effectLst>
            <a:outerShdw blurRad="285750" dist="133350" dir="5400000" algn="bl" rotWithShape="0">
              <a:srgbClr val="4A3F63">
                <a:alpha val="1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0075" y="1543050"/>
            <a:ext cx="1297734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31"/>
              </a:lnSpc>
              <a:buNone/>
            </a:pPr>
            <a:r>
              <a:rPr lang="en-US" sz="1688" b="1" kern="0" spc="28" dirty="0">
                <a:solidFill>
                  <a:srgbClr val="B9E4C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' or 1=1--</a:t>
            </a:r>
            <a:endParaRPr lang="en-US" sz="1688" dirty="0"/>
          </a:p>
        </p:txBody>
      </p:sp>
      <p:sp>
        <p:nvSpPr>
          <p:cNvPr id="11" name="Text 9"/>
          <p:cNvSpPr/>
          <p:nvPr/>
        </p:nvSpPr>
        <p:spPr>
          <a:xfrm>
            <a:off x="1778794" y="1572295"/>
            <a:ext cx="92869" cy="203597"/>
          </a:xfrm>
          <a:prstGeom prst="roundRect">
            <a:avLst>
              <a:gd name="adj" fmla="val 30769"/>
            </a:avLst>
          </a:prstGeom>
          <a:solidFill>
            <a:srgbClr val="B9E4C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0075" y="1914525"/>
            <a:ext cx="353180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dirty="0">
                <a:solidFill>
                  <a:srgbClr val="C9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password: ********</a:t>
            </a:r>
            <a:endParaRPr lang="en-US" sz="844" dirty="0"/>
          </a:p>
        </p:txBody>
      </p:sp>
      <p:sp>
        <p:nvSpPr>
          <p:cNvPr id="13" name="Text 11"/>
          <p:cNvSpPr/>
          <p:nvPr/>
        </p:nvSpPr>
        <p:spPr>
          <a:xfrm>
            <a:off x="428625" y="2332434"/>
            <a:ext cx="3874703" cy="749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7"/>
              </a:lnSpc>
              <a:buNone/>
            </a:pPr>
            <a:r>
              <a:rPr lang="en-US" sz="844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payload was submitted with an arbitrary password. It manipulates the underlying SQL query so the condition always evaluates true - the query returns the first user in the database, which is the administrator account. The login succeeded without ever knowing the real password.</a:t>
            </a:r>
            <a:endParaRPr lang="en-US" sz="844" dirty="0"/>
          </a:p>
        </p:txBody>
      </p:sp>
      <p:sp>
        <p:nvSpPr>
          <p:cNvPr id="14" name="Text 12"/>
          <p:cNvSpPr/>
          <p:nvPr/>
        </p:nvSpPr>
        <p:spPr>
          <a:xfrm>
            <a:off x="432197" y="3144589"/>
            <a:ext cx="3867559" cy="471488"/>
          </a:xfrm>
          <a:prstGeom prst="roundRect">
            <a:avLst>
              <a:gd name="adj" fmla="val 40404"/>
            </a:avLst>
          </a:prstGeom>
          <a:solidFill>
            <a:srgbClr val="E3F2EA"/>
          </a:solidFill>
          <a:ln w="7144">
            <a:solidFill>
              <a:srgbClr val="EAE4F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50069" y="324103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4A3F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16" name="Text 14"/>
          <p:cNvSpPr/>
          <p:nvPr/>
        </p:nvSpPr>
        <p:spPr>
          <a:xfrm>
            <a:off x="792956" y="3241030"/>
            <a:ext cx="338892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application confirmed the exploitation itself - </a:t>
            </a:r>
            <a:r>
              <a:rPr lang="en-US" sz="800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Login Admin</a:t>
            </a:r>
            <a:r>
              <a:rPr lang="en-US" sz="800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800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Score Board</a:t>
            </a:r>
            <a:r>
              <a:rPr lang="en-US" sz="800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challenges solved.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32197" y="3737521"/>
            <a:ext cx="3867559" cy="471488"/>
          </a:xfrm>
          <a:prstGeom prst="roundRect">
            <a:avLst>
              <a:gd name="adj" fmla="val 40404"/>
            </a:avLst>
          </a:prstGeom>
          <a:solidFill>
            <a:srgbClr val="FFEEE5"/>
          </a:solidFill>
          <a:ln w="7144">
            <a:solidFill>
              <a:srgbClr val="EAE4F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50069" y="383396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4A3F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547" dirty="0"/>
          </a:p>
        </p:txBody>
      </p:sp>
      <p:sp>
        <p:nvSpPr>
          <p:cNvPr id="19" name="Text 17"/>
          <p:cNvSpPr/>
          <p:nvPr/>
        </p:nvSpPr>
        <p:spPr>
          <a:xfrm>
            <a:off x="792956" y="3833961"/>
            <a:ext cx="338892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Impact</a:t>
            </a:r>
            <a:r>
              <a:rPr lang="en-US" sz="800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- an anonymous visitor becomes the administrator. This session powers every step that follows.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21212" y="1209080"/>
            <a:ext cx="4190591" cy="1550194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7144">
            <a:solidFill>
              <a:srgbClr val="EAE4F2"/>
            </a:solidFill>
            <a:prstDash val="solid"/>
          </a:ln>
          <a:effectLst>
            <a:outerShdw blurRad="247650" dist="95250" dir="5400000" algn="bl" rotWithShape="0">
              <a:srgbClr val="4A3F63">
                <a:alpha val="12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0" descr="/tmp/h2p-fit-1791982713215-sjrbx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934" y="1269802"/>
            <a:ext cx="4069147" cy="142875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349731" y="2812852"/>
            <a:ext cx="453355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776D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payload in the login field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521212" y="3070027"/>
            <a:ext cx="4190591" cy="1550194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7144">
            <a:solidFill>
              <a:srgbClr val="EAE4F2"/>
            </a:solidFill>
            <a:prstDash val="solid"/>
          </a:ln>
          <a:effectLst>
            <a:outerShdw blurRad="247650" dist="95250" dir="5400000" algn="bl" rotWithShape="0">
              <a:srgbClr val="4A3F63">
                <a:alpha val="12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1" descr="/tmp/h2p-fit-1791982713326-7nmxb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934" y="3130748"/>
            <a:ext cx="4069147" cy="142875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349731" y="4673798"/>
            <a:ext cx="453355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776D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Challenges solved - proof of bypass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28687" y="-1071562"/>
            <a:ext cx="2286000" cy="2286000"/>
          </a:xfrm>
          <a:prstGeom prst="ellipse">
            <a:avLst/>
          </a:prstGeom>
          <a:solidFill>
            <a:srgbClr val="A9D8C0">
              <a:alpha val="3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001000" y="4143375"/>
            <a:ext cx="2000250" cy="2000250"/>
          </a:xfrm>
          <a:prstGeom prst="ellipse">
            <a:avLst/>
          </a:prstGeom>
          <a:solidFill>
            <a:srgbClr val="C9B8E8">
              <a:alpha val="3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553391" y="-300037"/>
            <a:ext cx="2590610" cy="1543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0"/>
              </a:lnSpc>
              <a:buNone/>
            </a:pPr>
            <a:r>
              <a:rPr lang="en-US" sz="11250" b="1" dirty="0">
                <a:solidFill>
                  <a:srgbClr val="A9D8C0">
                    <a:alpha val="16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1250" dirty="0"/>
          </a:p>
        </p:txBody>
      </p:sp>
      <p:sp>
        <p:nvSpPr>
          <p:cNvPr id="5" name="Text 3"/>
          <p:cNvSpPr/>
          <p:nvPr/>
        </p:nvSpPr>
        <p:spPr>
          <a:xfrm>
            <a:off x="377190" y="315811"/>
            <a:ext cx="859215" cy="243488"/>
          </a:xfrm>
          <a:prstGeom prst="roundRect">
            <a:avLst>
              <a:gd name="adj" fmla="val 3907985"/>
            </a:avLst>
          </a:prstGeom>
          <a:solidFill>
            <a:srgbClr val="E3F2EA"/>
          </a:solidFill>
          <a:ln w="7144">
            <a:solidFill>
              <a:srgbClr val="A9D8C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0050" y="328613"/>
            <a:ext cx="81349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kern="0" spc="99" dirty="0">
                <a:solidFill>
                  <a:srgbClr val="4A3F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2 OF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00050" y="632222"/>
            <a:ext cx="6109447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29"/>
              </a:lnSpc>
              <a:buNone/>
            </a:pPr>
            <a:r>
              <a:rPr lang="en-US" sz="2025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Broken Access Control - Hidden Admin Panel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8222456" y="385763"/>
            <a:ext cx="64294" cy="64294"/>
          </a:xfrm>
          <a:prstGeom prst="ellipse">
            <a:avLst/>
          </a:prstGeom>
          <a:solidFill>
            <a:srgbClr val="EAE4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336756" y="385763"/>
            <a:ext cx="64294" cy="64294"/>
          </a:xfrm>
          <a:prstGeom prst="ellipse">
            <a:avLst/>
          </a:prstGeom>
          <a:solidFill>
            <a:srgbClr val="A9D8C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451056" y="385763"/>
            <a:ext cx="64294" cy="64294"/>
          </a:xfrm>
          <a:prstGeom prst="ellipse">
            <a:avLst/>
          </a:prstGeom>
          <a:solidFill>
            <a:srgbClr val="EAE4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565356" y="385763"/>
            <a:ext cx="64294" cy="64294"/>
          </a:xfrm>
          <a:prstGeom prst="ellipse">
            <a:avLst/>
          </a:prstGeom>
          <a:solidFill>
            <a:srgbClr val="EAE4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679656" y="385763"/>
            <a:ext cx="64294" cy="64294"/>
          </a:xfrm>
          <a:prstGeom prst="ellipse">
            <a:avLst/>
          </a:prstGeom>
          <a:solidFill>
            <a:srgbClr val="EAE4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03622" y="1135410"/>
            <a:ext cx="4331680" cy="1571625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7144">
            <a:solidFill>
              <a:srgbClr val="EAE4F2"/>
            </a:solidFill>
            <a:prstDash val="solid"/>
          </a:ln>
          <a:effectLst>
            <a:outerShdw blurRad="247650" dist="95250" dir="5400000" algn="bl" rotWithShape="0">
              <a:srgbClr val="4A3F63">
                <a:alpha val="12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0" descr="/tmp/h2p-fit-1791982714003-0khm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44" y="1196132"/>
            <a:ext cx="4210236" cy="1450181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00050" y="2805261"/>
            <a:ext cx="50006" cy="50006"/>
          </a:xfrm>
          <a:prstGeom prst="ellipse">
            <a:avLst/>
          </a:prstGeom>
          <a:solidFill>
            <a:srgbClr val="A9D8C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07206" y="2760613"/>
            <a:ext cx="423166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776D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Administration panel - every user and all feedback exposed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03622" y="3003500"/>
            <a:ext cx="4331680" cy="1571625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7144">
            <a:solidFill>
              <a:srgbClr val="EAE4F2"/>
            </a:solidFill>
            <a:prstDash val="solid"/>
          </a:ln>
          <a:effectLst>
            <a:outerShdw blurRad="247650" dist="95250" dir="5400000" algn="bl" rotWithShape="0">
              <a:srgbClr val="4A3F63">
                <a:alpha val="12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1" descr="/tmp/h2p-fit-1791982713898-zu564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44" y="3064222"/>
            <a:ext cx="4210236" cy="145018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00050" y="4673352"/>
            <a:ext cx="50006" cy="50006"/>
          </a:xfrm>
          <a:prstGeom prst="ellipse">
            <a:avLst/>
          </a:prstGeom>
          <a:solidFill>
            <a:srgbClr val="A9D8C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507206" y="4628704"/>
            <a:ext cx="423166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776D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user record opened - email and dates exposed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4953186" y="1579438"/>
            <a:ext cx="3790764" cy="625078"/>
          </a:xfrm>
          <a:prstGeom prst="roundRect">
            <a:avLst>
              <a:gd name="adj" fmla="val 21333"/>
            </a:avLst>
          </a:prstGeom>
          <a:solidFill>
            <a:srgbClr val="2E29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5096061" y="1686595"/>
            <a:ext cx="3614742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B9E4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HIDDEN ROUTE, OPENED DIRECTLY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5096061" y="1861617"/>
            <a:ext cx="350501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F3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/#/administration</a:t>
            </a:r>
            <a:endParaRPr lang="en-US" sz="1238" dirty="0"/>
          </a:p>
        </p:txBody>
      </p:sp>
      <p:sp>
        <p:nvSpPr>
          <p:cNvPr id="24" name="Text 20"/>
          <p:cNvSpPr/>
          <p:nvPr/>
        </p:nvSpPr>
        <p:spPr>
          <a:xfrm>
            <a:off x="4953186" y="2318817"/>
            <a:ext cx="3790764" cy="749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7"/>
              </a:lnSpc>
              <a:buNone/>
            </a:pPr>
            <a:r>
              <a:rPr lang="en-US" sz="844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the bypassed admin session active, the hidden administration route was opened straight from the browser address bar. It is not linked anywhere in normal navigation - yet the application rendered it fully, with no additional server-side role check.</a:t>
            </a:r>
            <a:endParaRPr lang="en-US" sz="844" dirty="0"/>
          </a:p>
        </p:txBody>
      </p:sp>
      <p:sp>
        <p:nvSpPr>
          <p:cNvPr id="25" name="Text 21"/>
          <p:cNvSpPr/>
          <p:nvPr/>
        </p:nvSpPr>
        <p:spPr>
          <a:xfrm>
            <a:off x="4956758" y="3130972"/>
            <a:ext cx="250031" cy="250031"/>
          </a:xfrm>
          <a:prstGeom prst="roundRect">
            <a:avLst>
              <a:gd name="adj" fmla="val 45714"/>
            </a:avLst>
          </a:prstGeom>
          <a:solidFill>
            <a:srgbClr val="F0EAF9"/>
          </a:solidFill>
          <a:ln w="7144">
            <a:solidFill>
              <a:srgbClr val="EAE4F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4978189" y="3152403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4A3F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406" dirty="0"/>
          </a:p>
        </p:txBody>
      </p:sp>
      <p:sp>
        <p:nvSpPr>
          <p:cNvPr id="27" name="Text 23"/>
          <p:cNvSpPr/>
          <p:nvPr/>
        </p:nvSpPr>
        <p:spPr>
          <a:xfrm>
            <a:off x="5296086" y="3178299"/>
            <a:ext cx="3447864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23"/>
              </a:lnSpc>
              <a:buNone/>
            </a:pPr>
            <a:r>
              <a:rPr lang="en-US" sz="844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registered user account listed with personal details.</a:t>
            </a:r>
            <a:endParaRPr lang="en-US" sz="844" dirty="0"/>
          </a:p>
        </p:txBody>
      </p:sp>
      <p:sp>
        <p:nvSpPr>
          <p:cNvPr id="28" name="Text 24"/>
          <p:cNvSpPr/>
          <p:nvPr/>
        </p:nvSpPr>
        <p:spPr>
          <a:xfrm>
            <a:off x="4956758" y="3459584"/>
            <a:ext cx="250031" cy="250031"/>
          </a:xfrm>
          <a:prstGeom prst="roundRect">
            <a:avLst>
              <a:gd name="adj" fmla="val 45714"/>
            </a:avLst>
          </a:prstGeom>
          <a:solidFill>
            <a:srgbClr val="E3F2EA"/>
          </a:solidFill>
          <a:ln w="7144">
            <a:solidFill>
              <a:srgbClr val="EAE4F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4978189" y="3481015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4A3F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406" dirty="0"/>
          </a:p>
        </p:txBody>
      </p:sp>
      <p:sp>
        <p:nvSpPr>
          <p:cNvPr id="30" name="Text 26"/>
          <p:cNvSpPr/>
          <p:nvPr/>
        </p:nvSpPr>
        <p:spPr>
          <a:xfrm>
            <a:off x="5296086" y="3506912"/>
            <a:ext cx="3447864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23"/>
              </a:lnSpc>
              <a:buNone/>
            </a:pPr>
            <a:r>
              <a:rPr lang="en-US" sz="844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 customer feedback readable - and deletable - from the panel.</a:t>
            </a:r>
            <a:endParaRPr lang="en-US" sz="844" dirty="0"/>
          </a:p>
        </p:txBody>
      </p:sp>
      <p:sp>
        <p:nvSpPr>
          <p:cNvPr id="31" name="Text 27"/>
          <p:cNvSpPr/>
          <p:nvPr/>
        </p:nvSpPr>
        <p:spPr>
          <a:xfrm>
            <a:off x="4956758" y="3845347"/>
            <a:ext cx="3783620" cy="471488"/>
          </a:xfrm>
          <a:prstGeom prst="roundRect">
            <a:avLst>
              <a:gd name="adj" fmla="val 28283"/>
            </a:avLst>
          </a:prstGeom>
          <a:solidFill>
            <a:srgbClr val="FFEEE5"/>
          </a:solidFill>
          <a:ln w="7144">
            <a:solidFill>
              <a:srgbClr val="EAE4F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5074630" y="4002509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4A3F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547" dirty="0"/>
          </a:p>
        </p:txBody>
      </p:sp>
      <p:sp>
        <p:nvSpPr>
          <p:cNvPr id="33" name="Text 29"/>
          <p:cNvSpPr/>
          <p:nvPr/>
        </p:nvSpPr>
        <p:spPr>
          <a:xfrm>
            <a:off x="5317517" y="3941787"/>
            <a:ext cx="3304989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Impact - a hidden menu item is not access control. Authorization must be enforced on the server.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86688" y="-1071562"/>
            <a:ext cx="2286000" cy="2286000"/>
          </a:xfrm>
          <a:prstGeom prst="ellipse">
            <a:avLst/>
          </a:prstGeom>
          <a:solidFill>
            <a:srgbClr val="FFD9C7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785812" y="4214813"/>
            <a:ext cx="1857375" cy="1857375"/>
          </a:xfrm>
          <a:prstGeom prst="ellipse">
            <a:avLst/>
          </a:prstGeom>
          <a:solidFill>
            <a:srgbClr val="C9B8E8">
              <a:alpha val="3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553391" y="-300037"/>
            <a:ext cx="2590610" cy="1543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0"/>
              </a:lnSpc>
              <a:buNone/>
            </a:pPr>
            <a:r>
              <a:rPr lang="en-US" sz="11250" b="1" dirty="0">
                <a:solidFill>
                  <a:srgbClr val="FFD9C7">
                    <a:alpha val="2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1250" dirty="0"/>
          </a:p>
        </p:txBody>
      </p:sp>
      <p:sp>
        <p:nvSpPr>
          <p:cNvPr id="5" name="Text 3"/>
          <p:cNvSpPr/>
          <p:nvPr/>
        </p:nvSpPr>
        <p:spPr>
          <a:xfrm>
            <a:off x="377190" y="315811"/>
            <a:ext cx="859215" cy="243488"/>
          </a:xfrm>
          <a:prstGeom prst="roundRect">
            <a:avLst>
              <a:gd name="adj" fmla="val 3907985"/>
            </a:avLst>
          </a:prstGeom>
          <a:solidFill>
            <a:srgbClr val="FFEEE5"/>
          </a:solidFill>
          <a:ln w="7144">
            <a:solidFill>
              <a:srgbClr val="FFD9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0050" y="328613"/>
            <a:ext cx="81349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kern="0" spc="99" dirty="0">
                <a:solidFill>
                  <a:srgbClr val="4A3F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3 OF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00050" y="632222"/>
            <a:ext cx="5155789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29"/>
              </a:lnSpc>
              <a:buNone/>
            </a:pPr>
            <a:r>
              <a:rPr lang="en-US" sz="2025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IDOR - Reading Other Customers Data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8222456" y="385763"/>
            <a:ext cx="64294" cy="64294"/>
          </a:xfrm>
          <a:prstGeom prst="ellipse">
            <a:avLst/>
          </a:prstGeom>
          <a:solidFill>
            <a:srgbClr val="EAE4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336756" y="385763"/>
            <a:ext cx="64294" cy="64294"/>
          </a:xfrm>
          <a:prstGeom prst="ellipse">
            <a:avLst/>
          </a:prstGeom>
          <a:solidFill>
            <a:srgbClr val="EAE4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451056" y="385763"/>
            <a:ext cx="64294" cy="64294"/>
          </a:xfrm>
          <a:prstGeom prst="ellipse">
            <a:avLst/>
          </a:prstGeom>
          <a:solidFill>
            <a:srgbClr val="FFD9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565356" y="385763"/>
            <a:ext cx="64294" cy="64294"/>
          </a:xfrm>
          <a:prstGeom prst="ellipse">
            <a:avLst/>
          </a:prstGeom>
          <a:solidFill>
            <a:srgbClr val="EAE4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679656" y="385763"/>
            <a:ext cx="64294" cy="64294"/>
          </a:xfrm>
          <a:prstGeom prst="ellipse">
            <a:avLst/>
          </a:prstGeom>
          <a:solidFill>
            <a:srgbClr val="EAE4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00050" y="1186867"/>
            <a:ext cx="4004965" cy="750763"/>
          </a:xfrm>
          <a:prstGeom prst="roundRect">
            <a:avLst>
              <a:gd name="adj" fmla="val 17762"/>
            </a:avLst>
          </a:prstGeom>
          <a:solidFill>
            <a:srgbClr val="2E29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42925" y="1294023"/>
            <a:ext cx="3828943" cy="154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B9E4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 IDS EDITED DIRECTLY IN THE URL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2925" y="1476189"/>
            <a:ext cx="3719215" cy="149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47500" lnSpcReduction="20000"/>
          </a:bodyPr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dirty="0">
                <a:solidFill>
                  <a:srgbClr val="B9E4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900" b="1" dirty="0">
                <a:solidFill>
                  <a:srgbClr val="F3E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/api/Users/4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2925" y="1653332"/>
            <a:ext cx="3719215" cy="177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dirty="0">
                <a:solidFill>
                  <a:srgbClr val="B9E4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900" b="1" dirty="0">
                <a:solidFill>
                  <a:srgbClr val="F3E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/api/Basket/4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0050" y="2037643"/>
            <a:ext cx="4004965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44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Numeric object IDs in the API URLs were edited while keeping the same session. The Users API returned a full user record for any ID. The Basket API was worse - baskets 1, 2, 3 and 4 each mapped to a different UserId.</a:t>
            </a:r>
            <a:endParaRPr lang="en-US" sz="844" dirty="0"/>
          </a:p>
        </p:txBody>
      </p:sp>
      <p:sp>
        <p:nvSpPr>
          <p:cNvPr id="18" name="Text 16"/>
          <p:cNvSpPr/>
          <p:nvPr/>
        </p:nvSpPr>
        <p:spPr>
          <a:xfrm>
            <a:off x="403622" y="2655577"/>
            <a:ext cx="3997821" cy="1460897"/>
          </a:xfrm>
          <a:prstGeom prst="roundRect">
            <a:avLst>
              <a:gd name="adj" fmla="val 13040"/>
            </a:avLst>
          </a:prstGeom>
          <a:solidFill>
            <a:srgbClr val="F0EAF9"/>
          </a:solidFill>
          <a:ln w="7144">
            <a:solidFill>
              <a:srgbClr val="EAE4F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1494" y="2759162"/>
            <a:ext cx="387180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customers, four baskets, one number changed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25066" y="2966331"/>
            <a:ext cx="3754934" cy="217884"/>
          </a:xfrm>
          <a:prstGeom prst="roundRect">
            <a:avLst>
              <a:gd name="adj" fmla="val 43716"/>
            </a:avLst>
          </a:prstGeom>
          <a:solidFill>
            <a:srgbClr val="FFFFFF"/>
          </a:solidFill>
          <a:ln w="7144">
            <a:solidFill>
              <a:srgbClr val="EAE4F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4363" y="3005621"/>
            <a:ext cx="309056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4A3F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Basket 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58239" y="3010979"/>
            <a:ext cx="593440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dirty="0">
                <a:solidFill>
                  <a:srgbClr val="776D9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- UserId 11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525066" y="3241365"/>
            <a:ext cx="3754934" cy="217884"/>
          </a:xfrm>
          <a:prstGeom prst="roundRect">
            <a:avLst>
              <a:gd name="adj" fmla="val 43716"/>
            </a:avLst>
          </a:prstGeom>
          <a:solidFill>
            <a:srgbClr val="FFFFFF"/>
          </a:solidFill>
          <a:ln w="7144">
            <a:solidFill>
              <a:srgbClr val="EAE4F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4363" y="3280656"/>
            <a:ext cx="313342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4A3F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Basket 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711028" y="3286013"/>
            <a:ext cx="530723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dirty="0">
                <a:solidFill>
                  <a:srgbClr val="776D9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- UserId 3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525066" y="3516399"/>
            <a:ext cx="3754934" cy="217884"/>
          </a:xfrm>
          <a:prstGeom prst="roundRect">
            <a:avLst>
              <a:gd name="adj" fmla="val 43716"/>
            </a:avLst>
          </a:prstGeom>
          <a:solidFill>
            <a:srgbClr val="FFFFFF"/>
          </a:solidFill>
          <a:ln w="7144">
            <a:solidFill>
              <a:srgbClr val="EAE4F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14363" y="3555690"/>
            <a:ext cx="313342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4A3F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Basket 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711028" y="3561048"/>
            <a:ext cx="530723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dirty="0">
                <a:solidFill>
                  <a:srgbClr val="776D9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- UserId 2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525066" y="3791434"/>
            <a:ext cx="3754934" cy="217884"/>
          </a:xfrm>
          <a:prstGeom prst="roundRect">
            <a:avLst>
              <a:gd name="adj" fmla="val 43716"/>
            </a:avLst>
          </a:prstGeom>
          <a:solidFill>
            <a:srgbClr val="FFFFFF"/>
          </a:solidFill>
          <a:ln w="7144">
            <a:solidFill>
              <a:srgbClr val="EAE4F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14363" y="3830724"/>
            <a:ext cx="313342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4A3F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Basket 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711028" y="3836082"/>
            <a:ext cx="530723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dirty="0">
                <a:solidFill>
                  <a:srgbClr val="776D9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- UserId 1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403622" y="4237918"/>
            <a:ext cx="3997821" cy="471488"/>
          </a:xfrm>
          <a:prstGeom prst="roundRect">
            <a:avLst>
              <a:gd name="adj" fmla="val 28283"/>
            </a:avLst>
          </a:prstGeom>
          <a:solidFill>
            <a:srgbClr val="FFEEE5"/>
          </a:solidFill>
          <a:ln w="7144">
            <a:solidFill>
              <a:srgbClr val="EAE4F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21494" y="439508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4A3F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547" dirty="0"/>
          </a:p>
        </p:txBody>
      </p:sp>
      <p:sp>
        <p:nvSpPr>
          <p:cNvPr id="34" name="Text 32"/>
          <p:cNvSpPr/>
          <p:nvPr/>
        </p:nvSpPr>
        <p:spPr>
          <a:xfrm>
            <a:off x="764381" y="4334359"/>
            <a:ext cx="351919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Impact - no ownership check on any object ID. Enumerating every user and basket takes seconds.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22899" y="1135410"/>
            <a:ext cx="4117479" cy="1571625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7144">
            <a:solidFill>
              <a:srgbClr val="EAE4F2"/>
            </a:solidFill>
            <a:prstDash val="solid"/>
          </a:ln>
          <a:effectLst>
            <a:outerShdw blurRad="247650" dist="95250" dir="5400000" algn="bl" rotWithShape="0">
              <a:srgbClr val="4A3F63">
                <a:alpha val="12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6" name="Image 0" descr="/tmp/h2p-fit-1791982713893-qiu0c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9333" y="1203275"/>
            <a:ext cx="3996035" cy="1450181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4619327" y="2805261"/>
            <a:ext cx="50006" cy="50006"/>
          </a:xfrm>
          <a:prstGeom prst="ellipse">
            <a:avLst/>
          </a:prstGeom>
          <a:solidFill>
            <a:srgbClr val="FFD9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4726484" y="2760613"/>
            <a:ext cx="40174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776D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Users API - full record returned in Repeater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4622899" y="3003500"/>
            <a:ext cx="4117479" cy="1571625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7144">
            <a:solidFill>
              <a:srgbClr val="EAE4F2"/>
            </a:solidFill>
            <a:prstDash val="solid"/>
          </a:ln>
          <a:effectLst>
            <a:outerShdw blurRad="247650" dist="95250" dir="5400000" algn="bl" rotWithShape="0">
              <a:srgbClr val="4A3F63">
                <a:alpha val="12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1" descr="/tmp/h2p-fit-1791982713914-p5uf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3621" y="3064222"/>
            <a:ext cx="3996035" cy="1450181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4619327" y="4673352"/>
            <a:ext cx="50006" cy="50006"/>
          </a:xfrm>
          <a:prstGeom prst="ellipse">
            <a:avLst/>
          </a:prstGeom>
          <a:solidFill>
            <a:srgbClr val="FFD9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8"/>
          <p:cNvSpPr/>
          <p:nvPr/>
        </p:nvSpPr>
        <p:spPr>
          <a:xfrm>
            <a:off x="4726484" y="4628704"/>
            <a:ext cx="40174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776D9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Basket 4 - belongs to UserId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28687" y="-1071562"/>
            <a:ext cx="2286000" cy="2286000"/>
          </a:xfrm>
          <a:prstGeom prst="ellipse">
            <a:avLst/>
          </a:prstGeom>
          <a:solidFill>
            <a:srgbClr val="F6CFDD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072438" y="4214813"/>
            <a:ext cx="1857375" cy="1857375"/>
          </a:xfrm>
          <a:prstGeom prst="ellipse">
            <a:avLst/>
          </a:prstGeom>
          <a:solidFill>
            <a:srgbClr val="A9D8C0">
              <a:alpha val="3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553391" y="-300037"/>
            <a:ext cx="2590610" cy="1543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0"/>
              </a:lnSpc>
              <a:buNone/>
            </a:pPr>
            <a:r>
              <a:rPr lang="en-US" sz="11250" b="1" dirty="0">
                <a:solidFill>
                  <a:srgbClr val="F6CFDD">
                    <a:alpha val="2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1250" dirty="0"/>
          </a:p>
        </p:txBody>
      </p:sp>
      <p:sp>
        <p:nvSpPr>
          <p:cNvPr id="5" name="Text 3"/>
          <p:cNvSpPr/>
          <p:nvPr/>
        </p:nvSpPr>
        <p:spPr>
          <a:xfrm>
            <a:off x="377190" y="315811"/>
            <a:ext cx="859215" cy="243488"/>
          </a:xfrm>
          <a:prstGeom prst="roundRect">
            <a:avLst>
              <a:gd name="adj" fmla="val 3907985"/>
            </a:avLst>
          </a:prstGeom>
          <a:solidFill>
            <a:srgbClr val="FBEAF0"/>
          </a:solidFill>
          <a:ln w="7144">
            <a:solidFill>
              <a:srgbClr val="F6CFDD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0050" y="328613"/>
            <a:ext cx="81349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kern="0" spc="99" dirty="0">
                <a:solidFill>
                  <a:srgbClr val="4A3F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4 OF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00050" y="632222"/>
            <a:ext cx="5544276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29"/>
              </a:lnSpc>
              <a:buNone/>
            </a:pPr>
            <a:r>
              <a:rPr lang="en-US" sz="2025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Parameter Tampering on Basket Quantity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8222456" y="385763"/>
            <a:ext cx="64294" cy="64294"/>
          </a:xfrm>
          <a:prstGeom prst="ellipse">
            <a:avLst/>
          </a:prstGeom>
          <a:solidFill>
            <a:srgbClr val="EAE4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336756" y="385763"/>
            <a:ext cx="64294" cy="64294"/>
          </a:xfrm>
          <a:prstGeom prst="ellipse">
            <a:avLst/>
          </a:prstGeom>
          <a:solidFill>
            <a:srgbClr val="EAE4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451056" y="385763"/>
            <a:ext cx="64294" cy="64294"/>
          </a:xfrm>
          <a:prstGeom prst="ellipse">
            <a:avLst/>
          </a:prstGeom>
          <a:solidFill>
            <a:srgbClr val="EAE4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565356" y="385763"/>
            <a:ext cx="64294" cy="64294"/>
          </a:xfrm>
          <a:prstGeom prst="ellipse">
            <a:avLst/>
          </a:prstGeom>
          <a:solidFill>
            <a:srgbClr val="F6CFD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679656" y="385763"/>
            <a:ext cx="64294" cy="64294"/>
          </a:xfrm>
          <a:prstGeom prst="ellipse">
            <a:avLst/>
          </a:prstGeom>
          <a:solidFill>
            <a:srgbClr val="EAE4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00050" y="1404640"/>
            <a:ext cx="4004965" cy="736476"/>
          </a:xfrm>
          <a:prstGeom prst="roundRect">
            <a:avLst>
              <a:gd name="adj" fmla="val 18106"/>
            </a:avLst>
          </a:prstGeom>
          <a:solidFill>
            <a:srgbClr val="2E29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42925" y="1504652"/>
            <a:ext cx="3828943" cy="154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B9E4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INTERCEPTED AND REPLAYED IN BURP REPEATER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2925" y="1686818"/>
            <a:ext cx="3719215" cy="149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47500" lnSpcReduction="20000"/>
          </a:bodyPr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dirty="0">
                <a:solidFill>
                  <a:srgbClr val="B9E4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r>
              <a:rPr lang="en-US" sz="900" b="1" dirty="0">
                <a:solidFill>
                  <a:srgbClr val="F3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/api/BasketItems/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2925" y="1863961"/>
            <a:ext cx="3719215" cy="177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dirty="0">
                <a:solidFill>
                  <a:srgbClr val="F3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"quantity": </a:t>
            </a:r>
            <a:r>
              <a:rPr lang="en-US" sz="900" b="1" dirty="0">
                <a:solidFill>
                  <a:srgbClr val="F6CFD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-50</a:t>
            </a:r>
            <a:r>
              <a:rPr lang="en-US" sz="900" b="1" dirty="0">
                <a:solidFill>
                  <a:srgbClr val="F3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0050" y="2233985"/>
            <a:ext cx="4004965" cy="54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buNone/>
            </a:pPr>
            <a:r>
              <a:rPr lang="en-US" sz="844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add-to-basket request was intercepted in Burp and replayed with a controlled body. A huge quantity was accepted with no upper limit - and a negative quantity of -50 was accepted too. No server-side validation exists at all.</a:t>
            </a:r>
            <a:endParaRPr lang="en-US" sz="844" dirty="0"/>
          </a:p>
        </p:txBody>
      </p:sp>
      <p:sp>
        <p:nvSpPr>
          <p:cNvPr id="18" name="Text 16"/>
          <p:cNvSpPr/>
          <p:nvPr/>
        </p:nvSpPr>
        <p:spPr>
          <a:xfrm>
            <a:off x="403622" y="2838078"/>
            <a:ext cx="1945332" cy="719956"/>
          </a:xfrm>
          <a:prstGeom prst="roundRect">
            <a:avLst>
              <a:gd name="adj" fmla="val 21168"/>
            </a:avLst>
          </a:prstGeom>
          <a:solidFill>
            <a:srgbClr val="F8D3CD"/>
          </a:solidFill>
          <a:ln w="7144">
            <a:solidFill>
              <a:srgbClr val="EAE4F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1494" y="2927375"/>
            <a:ext cx="1709589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38"/>
              </a:lnSpc>
              <a:buNone/>
            </a:pPr>
            <a:r>
              <a:rPr lang="en-US" sz="2138" b="1" dirty="0">
                <a:solidFill>
                  <a:srgbClr val="8C3B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-50</a:t>
            </a:r>
            <a:endParaRPr lang="en-US" sz="2138" dirty="0"/>
          </a:p>
        </p:txBody>
      </p:sp>
      <p:sp>
        <p:nvSpPr>
          <p:cNvPr id="20" name="Text 18"/>
          <p:cNvSpPr/>
          <p:nvPr/>
        </p:nvSpPr>
        <p:spPr>
          <a:xfrm>
            <a:off x="521494" y="3248844"/>
            <a:ext cx="1812164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619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negative quantity accepted by the server</a:t>
            </a:r>
            <a:endParaRPr lang="en-US" sz="619" dirty="0"/>
          </a:p>
        </p:txBody>
      </p:sp>
      <p:sp>
        <p:nvSpPr>
          <p:cNvPr id="21" name="Text 19"/>
          <p:cNvSpPr/>
          <p:nvPr/>
        </p:nvSpPr>
        <p:spPr>
          <a:xfrm>
            <a:off x="2456111" y="2838078"/>
            <a:ext cx="1945332" cy="719956"/>
          </a:xfrm>
          <a:prstGeom prst="roundRect">
            <a:avLst>
              <a:gd name="adj" fmla="val 21168"/>
            </a:avLst>
          </a:prstGeom>
          <a:solidFill>
            <a:srgbClr val="FBEECB"/>
          </a:solidFill>
          <a:ln w="7144">
            <a:solidFill>
              <a:srgbClr val="EAE4F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573982" y="2927375"/>
            <a:ext cx="1709589" cy="293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38"/>
              </a:lnSpc>
              <a:buNone/>
            </a:pPr>
            <a:r>
              <a:rPr lang="en-US" sz="2138" b="1" dirty="0">
                <a:solidFill>
                  <a:srgbClr val="8A61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-44</a:t>
            </a:r>
            <a:endParaRPr lang="en-US" sz="2138" dirty="0"/>
          </a:p>
        </p:txBody>
      </p:sp>
      <p:sp>
        <p:nvSpPr>
          <p:cNvPr id="23" name="Text 21"/>
          <p:cNvSpPr/>
          <p:nvPr/>
        </p:nvSpPr>
        <p:spPr>
          <a:xfrm>
            <a:off x="2573982" y="3248844"/>
            <a:ext cx="1709589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items shown on the basket icon after tampering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00050" y="366161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4A3F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⊗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585788" y="3654475"/>
            <a:ext cx="3819227" cy="31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dirty="0">
                <a:solidFill>
                  <a:srgbClr val="776D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app even awarded its own Error Handling challenge - this input was never expected.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03622" y="4034433"/>
            <a:ext cx="3997821" cy="457200"/>
          </a:xfrm>
          <a:prstGeom prst="roundRect">
            <a:avLst>
              <a:gd name="adj" fmla="val 29167"/>
            </a:avLst>
          </a:prstGeom>
          <a:solidFill>
            <a:srgbClr val="FFEEE5"/>
          </a:solidFill>
          <a:ln w="7144">
            <a:solidFill>
              <a:srgbClr val="EAE4F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21494" y="4184452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4A3F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547" dirty="0"/>
          </a:p>
        </p:txBody>
      </p:sp>
      <p:sp>
        <p:nvSpPr>
          <p:cNvPr id="28" name="Text 26"/>
          <p:cNvSpPr/>
          <p:nvPr/>
        </p:nvSpPr>
        <p:spPr>
          <a:xfrm>
            <a:off x="764381" y="4123730"/>
            <a:ext cx="351919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Impact - client-supplied quantity is fully trusted. In production this can distort basket totals and billing.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22899" y="1135410"/>
            <a:ext cx="4117479" cy="1571625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7144">
            <a:solidFill>
              <a:srgbClr val="EAE4F2"/>
            </a:solidFill>
            <a:prstDash val="solid"/>
          </a:ln>
          <a:effectLst>
            <a:outerShdw blurRad="247650" dist="95250" dir="5400000" algn="bl" rotWithShape="0">
              <a:srgbClr val="4A3F63">
                <a:alpha val="12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0" descr="/tmp/h2p-fit-1791982714279-7tb9n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621" y="1196132"/>
            <a:ext cx="3996035" cy="1450181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4619327" y="2805261"/>
            <a:ext cx="50006" cy="50006"/>
          </a:xfrm>
          <a:prstGeom prst="ellipse">
            <a:avLst/>
          </a:prstGeom>
          <a:solidFill>
            <a:srgbClr val="F6CFD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4726484" y="2760613"/>
            <a:ext cx="40174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776D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Quantity set to -50 - success response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622899" y="3003500"/>
            <a:ext cx="4117479" cy="1571625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7144">
            <a:solidFill>
              <a:srgbClr val="EAE4F2"/>
            </a:solidFill>
            <a:prstDash val="solid"/>
          </a:ln>
          <a:effectLst>
            <a:outerShdw blurRad="247650" dist="95250" dir="5400000" algn="bl" rotWithShape="0">
              <a:srgbClr val="4A3F63">
                <a:alpha val="12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Image 1" descr="/tmp/h2p-fit-1791982714232-1lji9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3621" y="3064222"/>
            <a:ext cx="3996035" cy="1450181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4619327" y="4673352"/>
            <a:ext cx="50006" cy="50006"/>
          </a:xfrm>
          <a:prstGeom prst="ellipse">
            <a:avLst/>
          </a:prstGeom>
          <a:solidFill>
            <a:srgbClr val="F6CFD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4726484" y="4628704"/>
            <a:ext cx="40174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776D9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Basket counter at -44 in the UI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28687" y="-1071562"/>
            <a:ext cx="2286000" cy="2286000"/>
          </a:xfrm>
          <a:prstGeom prst="ellipse">
            <a:avLst/>
          </a:prstGeom>
          <a:solidFill>
            <a:srgbClr val="C9B8E8">
              <a:alpha val="3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001000" y="4143375"/>
            <a:ext cx="2000250" cy="2000250"/>
          </a:xfrm>
          <a:prstGeom prst="ellipse">
            <a:avLst/>
          </a:prstGeom>
          <a:solidFill>
            <a:srgbClr val="A9D8C0">
              <a:alpha val="3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553391" y="-300037"/>
            <a:ext cx="2590610" cy="1543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0"/>
              </a:lnSpc>
              <a:buNone/>
            </a:pPr>
            <a:r>
              <a:rPr lang="en-US" sz="11250" b="1" dirty="0">
                <a:solidFill>
                  <a:srgbClr val="C9B8E8">
                    <a:alpha val="16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11250" dirty="0"/>
          </a:p>
        </p:txBody>
      </p:sp>
      <p:sp>
        <p:nvSpPr>
          <p:cNvPr id="5" name="Text 3"/>
          <p:cNvSpPr/>
          <p:nvPr/>
        </p:nvSpPr>
        <p:spPr>
          <a:xfrm>
            <a:off x="377190" y="301523"/>
            <a:ext cx="859215" cy="243488"/>
          </a:xfrm>
          <a:prstGeom prst="roundRect">
            <a:avLst>
              <a:gd name="adj" fmla="val 3907985"/>
            </a:avLst>
          </a:prstGeom>
          <a:solidFill>
            <a:srgbClr val="F0EAF9"/>
          </a:solidFill>
          <a:ln w="7144">
            <a:solidFill>
              <a:srgbClr val="C9B8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0050" y="314325"/>
            <a:ext cx="81349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kern="0" spc="99" dirty="0">
                <a:solidFill>
                  <a:srgbClr val="4A3F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5 OF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00050" y="617934"/>
            <a:ext cx="43798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29"/>
              </a:lnSpc>
              <a:buNone/>
            </a:pPr>
            <a:r>
              <a:rPr lang="en-US" sz="2025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Token That Survived Logout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6725841" y="342900"/>
            <a:ext cx="2018109" cy="298252"/>
          </a:xfrm>
          <a:prstGeom prst="roundRect">
            <a:avLst>
              <a:gd name="adj" fmla="val 38323"/>
            </a:avLst>
          </a:prstGeom>
          <a:solidFill>
            <a:srgbClr val="2E29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25841" y="342900"/>
            <a:ext cx="2018109" cy="313682"/>
          </a:xfrm>
          <a:prstGeom prst="rect">
            <a:avLst/>
          </a:prstGeom>
          <a:noFill/>
          <a:ln/>
        </p:spPr>
        <p:txBody>
          <a:bodyPr wrap="square" lIns="128588" tIns="71438" rIns="128588" bIns="71438" rtlCol="0" anchor="t">
            <a:normAutofit fontScale="77500" lnSpcReduction="20000"/>
          </a:bodyPr>
          <a:lstStyle/>
          <a:p>
            <a:pPr marL="0" indent="0" algn="r">
              <a:lnSpc>
                <a:spcPts val="1223"/>
              </a:lnSpc>
              <a:buNone/>
            </a:pPr>
            <a:r>
              <a:rPr lang="en-US" sz="816" dirty="0">
                <a:solidFill>
                  <a:srgbClr val="F3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Bearer &lt;same token&gt;</a:t>
            </a:r>
            <a:endParaRPr lang="en-US" sz="816" dirty="0"/>
          </a:p>
        </p:txBody>
      </p:sp>
      <p:sp>
        <p:nvSpPr>
          <p:cNvPr id="10" name="Text 8"/>
          <p:cNvSpPr/>
          <p:nvPr/>
        </p:nvSpPr>
        <p:spPr>
          <a:xfrm>
            <a:off x="6725841" y="684014"/>
            <a:ext cx="201810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928"/>
              </a:lnSpc>
              <a:buNone/>
            </a:pPr>
            <a:r>
              <a:rPr lang="en-US" sz="619" b="1" dirty="0">
                <a:solidFill>
                  <a:srgbClr val="776D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identical request, identical token - before and after</a:t>
            </a:r>
            <a:endParaRPr lang="en-US" sz="619" dirty="0"/>
          </a:p>
        </p:txBody>
      </p:sp>
      <p:sp>
        <p:nvSpPr>
          <p:cNvPr id="11" name="Text 9"/>
          <p:cNvSpPr/>
          <p:nvPr/>
        </p:nvSpPr>
        <p:spPr>
          <a:xfrm>
            <a:off x="403622" y="1045778"/>
            <a:ext cx="4079081" cy="2904716"/>
          </a:xfrm>
          <a:prstGeom prst="roundRect">
            <a:avLst>
              <a:gd name="adj" fmla="val 6558"/>
            </a:avLst>
          </a:prstGeom>
          <a:solidFill>
            <a:srgbClr val="FFFFFF"/>
          </a:solidFill>
          <a:ln w="7144">
            <a:solidFill>
              <a:srgbClr val="EAE4F2"/>
            </a:solidFill>
            <a:prstDash val="solid"/>
          </a:ln>
          <a:effectLst>
            <a:outerShdw blurRad="304800" dist="114300" dir="5400000" algn="bl" rotWithShape="0">
              <a:srgbClr val="4A3F63">
                <a:alpha val="9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6491" y="1138647"/>
            <a:ext cx="3893344" cy="285750"/>
          </a:xfrm>
          <a:prstGeom prst="roundRect">
            <a:avLst>
              <a:gd name="adj" fmla="val 40000"/>
            </a:avLst>
          </a:prstGeom>
          <a:solidFill>
            <a:srgbClr val="E3F2EA"/>
          </a:solidFill>
          <a:ln w="7144">
            <a:solidFill>
              <a:srgbClr val="EAE4F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832483" y="1213656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36" dirty="0">
                <a:solidFill>
                  <a:srgbClr val="4A3F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336" dirty="0"/>
          </a:p>
        </p:txBody>
      </p:sp>
      <p:sp>
        <p:nvSpPr>
          <p:cNvPr id="14" name="Text 12"/>
          <p:cNvSpPr/>
          <p:nvPr/>
        </p:nvSpPr>
        <p:spPr>
          <a:xfrm>
            <a:off x="2025365" y="1206512"/>
            <a:ext cx="226088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kern="0" spc="95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BEFORE LOGOUT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6491" y="1502978"/>
            <a:ext cx="3893344" cy="2162882"/>
          </a:xfrm>
          <a:prstGeom prst="roundRect">
            <a:avLst>
              <a:gd name="adj" fmla="val 6165"/>
            </a:avLst>
          </a:prstGeom>
          <a:solidFill>
            <a:srgbClr val="FFFFFF"/>
          </a:solidFill>
          <a:ln w="7144">
            <a:solidFill>
              <a:srgbClr val="EAE4F2"/>
            </a:solidFill>
            <a:prstDash val="solid"/>
          </a:ln>
          <a:effectLst>
            <a:outerShdw blurRad="247650" dist="95250" dir="5400000" algn="bl" rotWithShape="0">
              <a:srgbClr val="4A3F63">
                <a:alpha val="12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0" descr="/tmp/h2p-fit-1791982714952-d4lp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3" y="1563700"/>
            <a:ext cx="3771900" cy="204143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92919" y="3726582"/>
            <a:ext cx="3900488" cy="134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00" dirty="0">
                <a:solidFill>
                  <a:srgbClr val="776D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Request replayed with the Bearer token - success, full data returned.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661297" y="1045778"/>
            <a:ext cx="4079081" cy="2904716"/>
          </a:xfrm>
          <a:prstGeom prst="roundRect">
            <a:avLst>
              <a:gd name="adj" fmla="val 6558"/>
            </a:avLst>
          </a:prstGeom>
          <a:solidFill>
            <a:srgbClr val="FFFFFF"/>
          </a:solidFill>
          <a:ln w="7144">
            <a:solidFill>
              <a:srgbClr val="EAE4F2"/>
            </a:solidFill>
            <a:prstDash val="solid"/>
          </a:ln>
          <a:effectLst>
            <a:outerShdw blurRad="304800" dist="114300" dir="5400000" algn="bl" rotWithShape="0">
              <a:srgbClr val="4A3F63">
                <a:alpha val="9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754166" y="1138647"/>
            <a:ext cx="3893344" cy="285750"/>
          </a:xfrm>
          <a:prstGeom prst="roundRect">
            <a:avLst>
              <a:gd name="adj" fmla="val 40000"/>
            </a:avLst>
          </a:prstGeom>
          <a:solidFill>
            <a:srgbClr val="F8D3CD"/>
          </a:solidFill>
          <a:ln w="7144">
            <a:solidFill>
              <a:srgbClr val="EAE4F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137821" y="1213656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36" dirty="0">
                <a:solidFill>
                  <a:srgbClr val="8C3B2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336" dirty="0"/>
          </a:p>
        </p:txBody>
      </p:sp>
      <p:sp>
        <p:nvSpPr>
          <p:cNvPr id="21" name="Text 18"/>
          <p:cNvSpPr/>
          <p:nvPr/>
        </p:nvSpPr>
        <p:spPr>
          <a:xfrm>
            <a:off x="6330702" y="1206512"/>
            <a:ext cx="221322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b="1" kern="0" spc="95" dirty="0">
                <a:solidFill>
                  <a:srgbClr val="8C3B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AFTER LOGOUT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754166" y="1502978"/>
            <a:ext cx="3893344" cy="2162882"/>
          </a:xfrm>
          <a:prstGeom prst="roundRect">
            <a:avLst>
              <a:gd name="adj" fmla="val 6165"/>
            </a:avLst>
          </a:prstGeom>
          <a:solidFill>
            <a:srgbClr val="FFFFFF"/>
          </a:solidFill>
          <a:ln w="7144">
            <a:solidFill>
              <a:srgbClr val="EAE4F2"/>
            </a:solidFill>
            <a:prstDash val="solid"/>
          </a:ln>
          <a:effectLst>
            <a:outerShdw blurRad="247650" dist="95250" dir="5400000" algn="bl" rotWithShape="0">
              <a:srgbClr val="4A3F63">
                <a:alpha val="12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1" descr="/tmp/h2p-fit-1791982714817-iwi7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4888" y="1563700"/>
            <a:ext cx="3771900" cy="204143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750594" y="3726582"/>
            <a:ext cx="3900488" cy="134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31" dirty="0">
                <a:solidFill>
                  <a:srgbClr val="776D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Same request replayed unchanged after logging out - still success, still full data.</a:t>
            </a:r>
            <a:endParaRPr lang="en-US" sz="731" dirty="0"/>
          </a:p>
        </p:txBody>
      </p:sp>
      <p:sp>
        <p:nvSpPr>
          <p:cNvPr id="25" name="Text 21"/>
          <p:cNvSpPr/>
          <p:nvPr/>
        </p:nvSpPr>
        <p:spPr>
          <a:xfrm>
            <a:off x="400050" y="4068366"/>
            <a:ext cx="8343900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8"/>
              </a:lnSpc>
              <a:buNone/>
            </a:pPr>
            <a:r>
              <a:rPr lang="en-US" sz="844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account was logged out normally through the UI - the identical request was then replayed in Burp Repeater without changing a single character. The token was never invalidated server-side; logout only cleared the browser local state.</a:t>
            </a:r>
            <a:endParaRPr lang="en-US" sz="844" dirty="0"/>
          </a:p>
        </p:txBody>
      </p:sp>
      <p:sp>
        <p:nvSpPr>
          <p:cNvPr id="26" name="Text 22"/>
          <p:cNvSpPr/>
          <p:nvPr/>
        </p:nvSpPr>
        <p:spPr>
          <a:xfrm>
            <a:off x="403622" y="4504134"/>
            <a:ext cx="8336756" cy="335756"/>
          </a:xfrm>
          <a:prstGeom prst="roundRect">
            <a:avLst>
              <a:gd name="adj" fmla="val 39716"/>
            </a:avLst>
          </a:prstGeom>
          <a:solidFill>
            <a:srgbClr val="FFEEE5"/>
          </a:solidFill>
          <a:ln w="7144">
            <a:solidFill>
              <a:srgbClr val="EAE4F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521494" y="459343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4A3F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547" dirty="0"/>
          </a:p>
        </p:txBody>
      </p:sp>
      <p:sp>
        <p:nvSpPr>
          <p:cNvPr id="28" name="Text 24"/>
          <p:cNvSpPr/>
          <p:nvPr/>
        </p:nvSpPr>
        <p:spPr>
          <a:xfrm>
            <a:off x="764381" y="4602361"/>
            <a:ext cx="7858125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Impact - logging out is not containment. A captured token keeps working anywhere, anytime.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4425553" y="2176946"/>
            <a:ext cx="292894" cy="292894"/>
          </a:xfrm>
          <a:prstGeom prst="ellipse">
            <a:avLst/>
          </a:prstGeom>
          <a:solidFill>
            <a:srgbClr val="FFFFFF"/>
          </a:solidFill>
          <a:ln w="7144">
            <a:solidFill>
              <a:srgbClr val="EAE4F2"/>
            </a:solidFill>
            <a:prstDash val="solid"/>
          </a:ln>
          <a:effectLst>
            <a:outerShdw blurRad="190500" dist="76200" dir="5400000" algn="bl" rotWithShape="0">
              <a:srgbClr val="4A3F63">
                <a:alpha val="1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4458057" y="220945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4A3F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08156" y="-678656"/>
            <a:ext cx="1571625" cy="1571625"/>
          </a:xfrm>
          <a:prstGeom prst="ellipse">
            <a:avLst/>
          </a:prstGeom>
          <a:solidFill>
            <a:srgbClr val="C9B8E8">
              <a:alpha val="3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464344" y="4464844"/>
            <a:ext cx="1285875" cy="1285875"/>
          </a:xfrm>
          <a:prstGeom prst="ellipse">
            <a:avLst/>
          </a:prstGeom>
          <a:solidFill>
            <a:srgbClr val="A9D8C0">
              <a:alpha val="3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4340" y="344386"/>
            <a:ext cx="1508849" cy="264919"/>
          </a:xfrm>
          <a:prstGeom prst="roundRect">
            <a:avLst>
              <a:gd name="adj" fmla="val 3591843"/>
            </a:avLst>
          </a:prstGeom>
          <a:solidFill>
            <a:srgbClr val="F0EAF9"/>
          </a:solidFill>
          <a:ln w="7144">
            <a:solidFill>
              <a:srgbClr val="C9B8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357188"/>
            <a:ext cx="1463129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b="1" kern="0" spc="102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CONSOLIDATED 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96516"/>
            <a:ext cx="3376711" cy="31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9"/>
              </a:lnSpc>
              <a:buNone/>
            </a:pPr>
            <a:r>
              <a:rPr lang="en-US" sz="2025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Risk and Impact Summary</a:t>
            </a:r>
            <a:endParaRPr lang="en-US" sz="2025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77925"/>
            <a:ext cx="400050" cy="500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29300" y="767172"/>
            <a:ext cx="2857500" cy="389620"/>
          </a:xfrm>
          <a:prstGeom prst="rect">
            <a:avLst/>
          </a:prstGeom>
          <a:noFill/>
          <a:ln/>
        </p:spPr>
        <p:txBody>
          <a:bodyPr wrap="square" lIns="0" tIns="0" rIns="0" bIns="28575" rtlCol="0" anchor="t"/>
          <a:lstStyle/>
          <a:p>
            <a:pPr marL="0" indent="0" algn="r">
              <a:lnSpc>
                <a:spcPts val="1308"/>
              </a:lnSpc>
              <a:buNone/>
            </a:pPr>
            <a:r>
              <a:rPr lang="en-US" sz="844" dirty="0">
                <a:solidFill>
                  <a:srgbClr val="776D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findings, rated on the standard Low - Medium - High - Critical scale by exploitability and potential damage.</a:t>
            </a:r>
            <a:endParaRPr lang="en-US" sz="844" dirty="0"/>
          </a:p>
        </p:txBody>
      </p:sp>
      <p:sp>
        <p:nvSpPr>
          <p:cNvPr id="9" name="Text 6"/>
          <p:cNvSpPr/>
          <p:nvPr/>
        </p:nvSpPr>
        <p:spPr>
          <a:xfrm>
            <a:off x="460772" y="1302953"/>
            <a:ext cx="8222456" cy="3079738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7144">
            <a:solidFill>
              <a:srgbClr val="EAE4F2"/>
            </a:solidFill>
            <a:prstDash val="solid"/>
          </a:ln>
          <a:effectLst>
            <a:outerShdw blurRad="304800" dist="114300" dir="5400000" algn="bl" rotWithShape="0">
              <a:srgbClr val="4A3F63">
                <a:alpha val="9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678656" y="1674428"/>
            <a:ext cx="7786688" cy="0"/>
          </a:xfrm>
          <a:prstGeom prst="line">
            <a:avLst/>
          </a:prstGeom>
          <a:noFill/>
          <a:ln w="14288">
            <a:solidFill>
              <a:srgbClr val="EAE4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678656" y="1463687"/>
            <a:ext cx="312768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99" dirty="0">
                <a:solidFill>
                  <a:srgbClr val="776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Vulnerability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235337" y="1463687"/>
            <a:ext cx="454032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99" dirty="0">
                <a:solidFill>
                  <a:srgbClr val="776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Impact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882222" y="1463687"/>
            <a:ext cx="158312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99" dirty="0">
                <a:solidFill>
                  <a:srgbClr val="776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78656" y="2213223"/>
            <a:ext cx="7786688" cy="0"/>
          </a:xfrm>
          <a:prstGeom prst="line">
            <a:avLst/>
          </a:prstGeom>
          <a:noFill/>
          <a:ln w="7144">
            <a:solidFill>
              <a:srgbClr val="EAE4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685800" y="1845543"/>
            <a:ext cx="200025" cy="200025"/>
          </a:xfrm>
          <a:prstGeom prst="ellipse">
            <a:avLst/>
          </a:prstGeom>
          <a:solidFill>
            <a:srgbClr val="F0EAF9"/>
          </a:solidFill>
          <a:ln w="14288">
            <a:solidFill>
              <a:srgbClr val="C9B8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78656" y="1838399"/>
            <a:ext cx="2643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4A3F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992981" y="1791630"/>
            <a:ext cx="1462917" cy="1411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1013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Authentication Bypass</a:t>
            </a:r>
            <a:endParaRPr lang="en-US" sz="1013" dirty="0"/>
          </a:p>
        </p:txBody>
      </p:sp>
      <p:sp>
        <p:nvSpPr>
          <p:cNvPr id="18" name="Text 15"/>
          <p:cNvSpPr/>
          <p:nvPr/>
        </p:nvSpPr>
        <p:spPr>
          <a:xfrm>
            <a:off x="992981" y="1960178"/>
            <a:ext cx="14629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776D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(SQL Injection in login)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235337" y="1784821"/>
            <a:ext cx="3504009" cy="347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Attacker logs in as any user, including the admin, without knowing a password.</a:t>
            </a:r>
            <a:endParaRPr lang="en-US" sz="844" dirty="0"/>
          </a:p>
        </p:txBody>
      </p:sp>
      <p:sp>
        <p:nvSpPr>
          <p:cNvPr id="20" name="Text 17"/>
          <p:cNvSpPr/>
          <p:nvPr/>
        </p:nvSpPr>
        <p:spPr>
          <a:xfrm>
            <a:off x="6859362" y="1818454"/>
            <a:ext cx="779294" cy="254203"/>
          </a:xfrm>
          <a:prstGeom prst="roundRect">
            <a:avLst>
              <a:gd name="adj" fmla="val 3743258"/>
            </a:avLst>
          </a:prstGeom>
          <a:solidFill>
            <a:srgbClr val="F8D3C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996522" y="1920553"/>
            <a:ext cx="50006" cy="50006"/>
          </a:xfrm>
          <a:prstGeom prst="roundRect">
            <a:avLst>
              <a:gd name="adj" fmla="val 66667"/>
            </a:avLst>
          </a:prstGeom>
          <a:solidFill>
            <a:srgbClr val="8C3B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977713" y="1823368"/>
            <a:ext cx="73357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b="1" kern="0" spc="54" dirty="0">
                <a:solidFill>
                  <a:srgbClr val="8C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78656" y="2748446"/>
            <a:ext cx="7786688" cy="0"/>
          </a:xfrm>
          <a:prstGeom prst="line">
            <a:avLst/>
          </a:prstGeom>
          <a:noFill/>
          <a:ln w="7144">
            <a:solidFill>
              <a:srgbClr val="EAE4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685800" y="2380766"/>
            <a:ext cx="200025" cy="200025"/>
          </a:xfrm>
          <a:prstGeom prst="ellipse">
            <a:avLst/>
          </a:prstGeom>
          <a:solidFill>
            <a:srgbClr val="E3F2EA"/>
          </a:solidFill>
          <a:ln w="14288">
            <a:solidFill>
              <a:srgbClr val="A9D8C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78656" y="2373623"/>
            <a:ext cx="2643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4A3F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992981" y="2326853"/>
            <a:ext cx="1488116" cy="1411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1013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Broken Access Control</a:t>
            </a:r>
            <a:endParaRPr lang="en-US" sz="1013" dirty="0"/>
          </a:p>
        </p:txBody>
      </p:sp>
      <p:sp>
        <p:nvSpPr>
          <p:cNvPr id="27" name="Text 24"/>
          <p:cNvSpPr/>
          <p:nvPr/>
        </p:nvSpPr>
        <p:spPr>
          <a:xfrm>
            <a:off x="992981" y="2495401"/>
            <a:ext cx="16610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776D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(Admin Panel)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235337" y="2400412"/>
            <a:ext cx="3504009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full administrative interface is reachable with no server-side role check.</a:t>
            </a:r>
            <a:endParaRPr lang="en-US" sz="844" dirty="0"/>
          </a:p>
        </p:txBody>
      </p:sp>
      <p:sp>
        <p:nvSpPr>
          <p:cNvPr id="29" name="Text 26"/>
          <p:cNvSpPr/>
          <p:nvPr/>
        </p:nvSpPr>
        <p:spPr>
          <a:xfrm>
            <a:off x="6860835" y="2353677"/>
            <a:ext cx="577438" cy="254203"/>
          </a:xfrm>
          <a:prstGeom prst="roundRect">
            <a:avLst>
              <a:gd name="adj" fmla="val 3743258"/>
            </a:avLst>
          </a:prstGeom>
          <a:solidFill>
            <a:srgbClr val="FBEEC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6996522" y="2455776"/>
            <a:ext cx="50006" cy="50006"/>
          </a:xfrm>
          <a:prstGeom prst="roundRect">
            <a:avLst>
              <a:gd name="adj" fmla="val 66667"/>
            </a:avLst>
          </a:prstGeom>
          <a:solidFill>
            <a:srgbClr val="8A6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6931948" y="2359336"/>
            <a:ext cx="53466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b="1" kern="0" spc="54" dirty="0">
                <a:solidFill>
                  <a:srgbClr val="8A6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678656" y="3283669"/>
            <a:ext cx="7786688" cy="0"/>
          </a:xfrm>
          <a:prstGeom prst="line">
            <a:avLst/>
          </a:prstGeom>
          <a:noFill/>
          <a:ln w="7144">
            <a:solidFill>
              <a:srgbClr val="EAE4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0"/>
          <p:cNvSpPr/>
          <p:nvPr/>
        </p:nvSpPr>
        <p:spPr>
          <a:xfrm>
            <a:off x="685800" y="2915989"/>
            <a:ext cx="200025" cy="200025"/>
          </a:xfrm>
          <a:prstGeom prst="ellipse">
            <a:avLst/>
          </a:prstGeom>
          <a:solidFill>
            <a:srgbClr val="FFEEE5"/>
          </a:solidFill>
          <a:ln w="14288">
            <a:solidFill>
              <a:srgbClr val="FFD9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678656" y="2908846"/>
            <a:ext cx="2643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4A3F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992981" y="2862076"/>
            <a:ext cx="1439285" cy="1411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1013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IDOR</a:t>
            </a:r>
            <a:endParaRPr lang="en-US" sz="1013" dirty="0"/>
          </a:p>
        </p:txBody>
      </p:sp>
      <p:sp>
        <p:nvSpPr>
          <p:cNvPr id="36" name="Text 33"/>
          <p:cNvSpPr/>
          <p:nvPr/>
        </p:nvSpPr>
        <p:spPr>
          <a:xfrm>
            <a:off x="992981" y="3030624"/>
            <a:ext cx="10676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776D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(Users + Basket APIs)</a:t>
            </a:r>
            <a:endParaRPr lang="en-US" sz="731" dirty="0"/>
          </a:p>
        </p:txBody>
      </p:sp>
      <p:sp>
        <p:nvSpPr>
          <p:cNvPr id="37" name="Text 34"/>
          <p:cNvSpPr/>
          <p:nvPr/>
        </p:nvSpPr>
        <p:spPr>
          <a:xfrm>
            <a:off x="3235337" y="2855268"/>
            <a:ext cx="3504009" cy="347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customer personal data and order contents readable by changing one ID.</a:t>
            </a:r>
            <a:endParaRPr lang="en-US" sz="844" dirty="0"/>
          </a:p>
        </p:txBody>
      </p:sp>
      <p:sp>
        <p:nvSpPr>
          <p:cNvPr id="38" name="Text 35"/>
          <p:cNvSpPr/>
          <p:nvPr/>
        </p:nvSpPr>
        <p:spPr>
          <a:xfrm>
            <a:off x="6880250" y="2896710"/>
            <a:ext cx="577438" cy="254203"/>
          </a:xfrm>
          <a:prstGeom prst="roundRect">
            <a:avLst>
              <a:gd name="adj" fmla="val 3743258"/>
            </a:avLst>
          </a:prstGeom>
          <a:solidFill>
            <a:srgbClr val="FBEEC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996522" y="2990999"/>
            <a:ext cx="50006" cy="50006"/>
          </a:xfrm>
          <a:prstGeom prst="roundRect">
            <a:avLst>
              <a:gd name="adj" fmla="val 66667"/>
            </a:avLst>
          </a:prstGeom>
          <a:solidFill>
            <a:srgbClr val="8A6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6931947" y="2901702"/>
            <a:ext cx="53466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b="1" kern="0" spc="54" dirty="0">
                <a:solidFill>
                  <a:srgbClr val="8A6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678656" y="3818892"/>
            <a:ext cx="7786688" cy="0"/>
          </a:xfrm>
          <a:prstGeom prst="line">
            <a:avLst/>
          </a:prstGeom>
          <a:noFill/>
          <a:ln w="7144">
            <a:solidFill>
              <a:srgbClr val="EAE4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39"/>
          <p:cNvSpPr/>
          <p:nvPr/>
        </p:nvSpPr>
        <p:spPr>
          <a:xfrm>
            <a:off x="685800" y="3451213"/>
            <a:ext cx="200025" cy="200025"/>
          </a:xfrm>
          <a:prstGeom prst="ellipse">
            <a:avLst/>
          </a:prstGeom>
          <a:solidFill>
            <a:srgbClr val="FBEAF0"/>
          </a:solidFill>
          <a:ln w="14288">
            <a:solidFill>
              <a:srgbClr val="F6CFDD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678656" y="3444069"/>
            <a:ext cx="2643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4A3F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992981" y="3397300"/>
            <a:ext cx="1538442" cy="1411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1013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Parameter Tampering</a:t>
            </a:r>
            <a:endParaRPr lang="en-US" sz="1013" dirty="0"/>
          </a:p>
        </p:txBody>
      </p:sp>
      <p:sp>
        <p:nvSpPr>
          <p:cNvPr id="45" name="Text 42"/>
          <p:cNvSpPr/>
          <p:nvPr/>
        </p:nvSpPr>
        <p:spPr>
          <a:xfrm>
            <a:off x="992981" y="3565847"/>
            <a:ext cx="153844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776D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(Basket Quantity)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3235337" y="3470858"/>
            <a:ext cx="3504009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Arbitrary and negative quantities break pricing logic and basket totals.</a:t>
            </a:r>
            <a:endParaRPr lang="en-US" sz="844" dirty="0"/>
          </a:p>
        </p:txBody>
      </p:sp>
      <p:sp>
        <p:nvSpPr>
          <p:cNvPr id="47" name="Text 44"/>
          <p:cNvSpPr/>
          <p:nvPr/>
        </p:nvSpPr>
        <p:spPr>
          <a:xfrm>
            <a:off x="6860835" y="3424123"/>
            <a:ext cx="577438" cy="254203"/>
          </a:xfrm>
          <a:prstGeom prst="roundRect">
            <a:avLst>
              <a:gd name="adj" fmla="val 3743258"/>
            </a:avLst>
          </a:prstGeom>
          <a:solidFill>
            <a:srgbClr val="FBEEC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6996522" y="3526222"/>
            <a:ext cx="50006" cy="50006"/>
          </a:xfrm>
          <a:prstGeom prst="roundRect">
            <a:avLst>
              <a:gd name="adj" fmla="val 66667"/>
            </a:avLst>
          </a:prstGeom>
          <a:solidFill>
            <a:srgbClr val="8A6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6922355" y="3429325"/>
            <a:ext cx="53466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b="1" kern="0" spc="54" dirty="0">
                <a:solidFill>
                  <a:srgbClr val="8A6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685800" y="3986436"/>
            <a:ext cx="200025" cy="200025"/>
          </a:xfrm>
          <a:prstGeom prst="ellipse">
            <a:avLst/>
          </a:prstGeom>
          <a:solidFill>
            <a:srgbClr val="F0EAF9"/>
          </a:solidFill>
          <a:ln w="14288">
            <a:solidFill>
              <a:srgbClr val="C9B8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678656" y="3979292"/>
            <a:ext cx="2643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4A3F6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992981" y="3932523"/>
            <a:ext cx="1010846" cy="1411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1013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Weak Session</a:t>
            </a:r>
            <a:endParaRPr lang="en-US" sz="1013" dirty="0"/>
          </a:p>
        </p:txBody>
      </p:sp>
      <p:sp>
        <p:nvSpPr>
          <p:cNvPr id="53" name="Text 50"/>
          <p:cNvSpPr/>
          <p:nvPr/>
        </p:nvSpPr>
        <p:spPr>
          <a:xfrm>
            <a:off x="992981" y="4101071"/>
            <a:ext cx="101084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776D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(Token After Logout)</a:t>
            </a:r>
            <a:endParaRPr lang="en-US" sz="731" dirty="0"/>
          </a:p>
        </p:txBody>
      </p:sp>
      <p:sp>
        <p:nvSpPr>
          <p:cNvPr id="54" name="Text 51"/>
          <p:cNvSpPr/>
          <p:nvPr/>
        </p:nvSpPr>
        <p:spPr>
          <a:xfrm>
            <a:off x="3235337" y="4006081"/>
            <a:ext cx="3504009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captured token keeps working after the legitimate user logs out.</a:t>
            </a:r>
            <a:endParaRPr lang="en-US" sz="844" dirty="0"/>
          </a:p>
        </p:txBody>
      </p:sp>
      <p:sp>
        <p:nvSpPr>
          <p:cNvPr id="55" name="Text 52"/>
          <p:cNvSpPr/>
          <p:nvPr/>
        </p:nvSpPr>
        <p:spPr>
          <a:xfrm>
            <a:off x="6859362" y="3959347"/>
            <a:ext cx="679839" cy="254203"/>
          </a:xfrm>
          <a:prstGeom prst="roundRect">
            <a:avLst>
              <a:gd name="adj" fmla="val 3743258"/>
            </a:avLst>
          </a:prstGeom>
          <a:solidFill>
            <a:srgbClr val="D6E4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6996522" y="4061445"/>
            <a:ext cx="50006" cy="50006"/>
          </a:xfrm>
          <a:prstGeom prst="roundRect">
            <a:avLst>
              <a:gd name="adj" fmla="val 66667"/>
            </a:avLst>
          </a:prstGeom>
          <a:solidFill>
            <a:srgbClr val="2F558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4"/>
          <p:cNvSpPr/>
          <p:nvPr/>
        </p:nvSpPr>
        <p:spPr>
          <a:xfrm>
            <a:off x="6940990" y="3972148"/>
            <a:ext cx="6341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b="1" kern="0" spc="54" dirty="0">
                <a:solidFill>
                  <a:srgbClr val="2F5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460772" y="4504134"/>
            <a:ext cx="8222456" cy="307181"/>
          </a:xfrm>
          <a:prstGeom prst="roundRect">
            <a:avLst>
              <a:gd name="adj" fmla="val 62016"/>
            </a:avLst>
          </a:prstGeom>
          <a:solidFill>
            <a:srgbClr val="F0EAF9"/>
          </a:solidFill>
          <a:ln w="7144">
            <a:solidFill>
              <a:srgbClr val="EAE4F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6"/>
          <p:cNvSpPr/>
          <p:nvPr/>
        </p:nvSpPr>
        <p:spPr>
          <a:xfrm>
            <a:off x="621506" y="458628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4A3F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406" dirty="0"/>
          </a:p>
        </p:txBody>
      </p:sp>
      <p:sp>
        <p:nvSpPr>
          <p:cNvPr id="60" name="Text 57"/>
          <p:cNvSpPr/>
          <p:nvPr/>
        </p:nvSpPr>
        <p:spPr>
          <a:xfrm>
            <a:off x="850106" y="4588073"/>
            <a:ext cx="7672388" cy="141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Critical rating exists because the bypass needs no prior access - everything else cascades from it.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86750" y="-607219"/>
            <a:ext cx="1357313" cy="1357313"/>
          </a:xfrm>
          <a:prstGeom prst="ellipse">
            <a:avLst/>
          </a:prstGeom>
          <a:solidFill>
            <a:srgbClr val="A9D8C0">
              <a:alpha val="3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535781" y="4321969"/>
            <a:ext cx="1500188" cy="1500188"/>
          </a:xfrm>
          <a:prstGeom prst="ellipse">
            <a:avLst/>
          </a:prstGeom>
          <a:solidFill>
            <a:srgbClr val="C9B8E8">
              <a:alpha val="3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4340" y="344386"/>
            <a:ext cx="1074866" cy="264919"/>
          </a:xfrm>
          <a:prstGeom prst="roundRect">
            <a:avLst>
              <a:gd name="adj" fmla="val 3591843"/>
            </a:avLst>
          </a:prstGeom>
          <a:solidFill>
            <a:srgbClr val="E3F2EA"/>
          </a:solidFill>
          <a:ln w="7144">
            <a:solidFill>
              <a:srgbClr val="A9D8C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357188"/>
            <a:ext cx="1029146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b="1" kern="0" spc="102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REMEDIATION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96516"/>
            <a:ext cx="2460776" cy="31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9"/>
              </a:lnSpc>
              <a:buNone/>
            </a:pPr>
            <a:r>
              <a:rPr lang="en-US" sz="2025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Breaking the Chain</a:t>
            </a:r>
            <a:endParaRPr lang="en-US" sz="2025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77925"/>
            <a:ext cx="400050" cy="500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29300" y="767172"/>
            <a:ext cx="2857500" cy="389620"/>
          </a:xfrm>
          <a:prstGeom prst="rect">
            <a:avLst/>
          </a:prstGeom>
          <a:noFill/>
          <a:ln/>
        </p:spPr>
        <p:txBody>
          <a:bodyPr wrap="square" lIns="0" tIns="0" rIns="0" bIns="28575" rtlCol="0" anchor="t"/>
          <a:lstStyle/>
          <a:p>
            <a:pPr marL="0" indent="0" algn="r">
              <a:lnSpc>
                <a:spcPts val="1308"/>
              </a:lnSpc>
              <a:buNone/>
            </a:pPr>
            <a:r>
              <a:rPr lang="en-US" sz="844" dirty="0">
                <a:solidFill>
                  <a:srgbClr val="776D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weakness needs its own fix - a single patch cannot close every step at once.</a:t>
            </a:r>
            <a:endParaRPr lang="en-US" sz="844" dirty="0"/>
          </a:p>
        </p:txBody>
      </p:sp>
      <p:sp>
        <p:nvSpPr>
          <p:cNvPr id="9" name="Text 6"/>
          <p:cNvSpPr/>
          <p:nvPr/>
        </p:nvSpPr>
        <p:spPr>
          <a:xfrm>
            <a:off x="460772" y="1288666"/>
            <a:ext cx="4050506" cy="1050466"/>
          </a:xfrm>
          <a:prstGeom prst="roundRect">
            <a:avLst>
              <a:gd name="adj" fmla="val 18135"/>
            </a:avLst>
          </a:prstGeom>
          <a:solidFill>
            <a:srgbClr val="FFFFFF"/>
          </a:solidFill>
          <a:ln w="7144">
            <a:solidFill>
              <a:srgbClr val="EAE4F2"/>
            </a:solidFill>
            <a:prstDash val="solid"/>
          </a:ln>
          <a:effectLst>
            <a:outerShdw blurRad="304800" dist="114300" dir="5400000" algn="bl" rotWithShape="0">
              <a:srgbClr val="4A3F63">
                <a:alpha val="9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289303" y="1363675"/>
            <a:ext cx="142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b="1" dirty="0">
                <a:solidFill>
                  <a:srgbClr val="776D93">
                    <a:alpha val="6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619" dirty="0"/>
          </a:p>
        </p:txBody>
      </p:sp>
      <p:sp>
        <p:nvSpPr>
          <p:cNvPr id="11" name="Text 8"/>
          <p:cNvSpPr/>
          <p:nvPr/>
        </p:nvSpPr>
        <p:spPr>
          <a:xfrm>
            <a:off x="598646" y="1667096"/>
            <a:ext cx="1117283" cy="293494"/>
          </a:xfrm>
          <a:prstGeom prst="roundRect">
            <a:avLst>
              <a:gd name="adj" fmla="val 3242136"/>
            </a:avLst>
          </a:prstGeom>
          <a:solidFill>
            <a:srgbClr val="F8D3C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21506" y="1679897"/>
            <a:ext cx="1128713" cy="267891"/>
          </a:xfrm>
          <a:prstGeom prst="rect">
            <a:avLst/>
          </a:prstGeom>
          <a:noFill/>
          <a:ln/>
        </p:spPr>
        <p:txBody>
          <a:bodyPr wrap="none" lIns="0" tIns="64294" rIns="0" bIns="64294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b="1" kern="0" spc="15" dirty="0">
                <a:solidFill>
                  <a:srgbClr val="8C3B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SQL Injection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807369" y="1647751"/>
            <a:ext cx="2543175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8"/>
              </a:lnSpc>
              <a:buNone/>
            </a:pPr>
            <a:r>
              <a:rPr lang="en-US" sz="844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 parameterized queries or an ORM with bound parameters - never concatenate user input into SQL.</a:t>
            </a:r>
            <a:endParaRPr lang="en-US" sz="844" dirty="0"/>
          </a:p>
        </p:txBody>
      </p:sp>
      <p:sp>
        <p:nvSpPr>
          <p:cNvPr id="14" name="Text 11"/>
          <p:cNvSpPr/>
          <p:nvPr/>
        </p:nvSpPr>
        <p:spPr>
          <a:xfrm>
            <a:off x="4632722" y="1288666"/>
            <a:ext cx="4050506" cy="1050466"/>
          </a:xfrm>
          <a:prstGeom prst="roundRect">
            <a:avLst>
              <a:gd name="adj" fmla="val 18135"/>
            </a:avLst>
          </a:prstGeom>
          <a:solidFill>
            <a:srgbClr val="FFFFFF"/>
          </a:solidFill>
          <a:ln w="7144">
            <a:solidFill>
              <a:srgbClr val="EAE4F2"/>
            </a:solidFill>
            <a:prstDash val="solid"/>
          </a:ln>
          <a:effectLst>
            <a:outerShdw blurRad="304800" dist="114300" dir="5400000" algn="bl" rotWithShape="0">
              <a:srgbClr val="4A3F63">
                <a:alpha val="9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461253" y="1363675"/>
            <a:ext cx="142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b="1" dirty="0">
                <a:solidFill>
                  <a:srgbClr val="776D93">
                    <a:alpha val="6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619" dirty="0"/>
          </a:p>
        </p:txBody>
      </p:sp>
      <p:sp>
        <p:nvSpPr>
          <p:cNvPr id="16" name="Text 13"/>
          <p:cNvSpPr/>
          <p:nvPr/>
        </p:nvSpPr>
        <p:spPr>
          <a:xfrm>
            <a:off x="4770596" y="1667096"/>
            <a:ext cx="1117283" cy="293494"/>
          </a:xfrm>
          <a:prstGeom prst="roundRect">
            <a:avLst>
              <a:gd name="adj" fmla="val 3242136"/>
            </a:avLst>
          </a:prstGeom>
          <a:solidFill>
            <a:srgbClr val="FBEEC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793456" y="1679897"/>
            <a:ext cx="1128713" cy="267891"/>
          </a:xfrm>
          <a:prstGeom prst="rect">
            <a:avLst/>
          </a:prstGeom>
          <a:noFill/>
          <a:ln/>
        </p:spPr>
        <p:txBody>
          <a:bodyPr wrap="none" lIns="0" tIns="64294" rIns="0" bIns="64294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b="1" kern="0" spc="15" dirty="0">
                <a:solidFill>
                  <a:srgbClr val="8A61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 Panel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979319" y="1564704"/>
            <a:ext cx="2543175" cy="538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8"/>
              </a:lnSpc>
              <a:buNone/>
            </a:pPr>
            <a:r>
              <a:rPr lang="en-US" sz="844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Enforce server-side role checks on every administrative route - a missing menu item is not access control.</a:t>
            </a:r>
            <a:endParaRPr lang="en-US" sz="844" dirty="0"/>
          </a:p>
        </p:txBody>
      </p:sp>
      <p:sp>
        <p:nvSpPr>
          <p:cNvPr id="19" name="Text 16"/>
          <p:cNvSpPr/>
          <p:nvPr/>
        </p:nvSpPr>
        <p:spPr>
          <a:xfrm>
            <a:off x="460772" y="2460575"/>
            <a:ext cx="4050506" cy="1050578"/>
          </a:xfrm>
          <a:prstGeom prst="roundRect">
            <a:avLst>
              <a:gd name="adj" fmla="val 18133"/>
            </a:avLst>
          </a:prstGeom>
          <a:solidFill>
            <a:srgbClr val="FFFFFF"/>
          </a:solidFill>
          <a:ln w="7144">
            <a:solidFill>
              <a:srgbClr val="EAE4F2"/>
            </a:solidFill>
            <a:prstDash val="solid"/>
          </a:ln>
          <a:effectLst>
            <a:outerShdw blurRad="304800" dist="114300" dir="5400000" algn="bl" rotWithShape="0">
              <a:srgbClr val="4A3F63">
                <a:alpha val="9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289303" y="2535585"/>
            <a:ext cx="142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b="1" dirty="0">
                <a:solidFill>
                  <a:srgbClr val="776D93">
                    <a:alpha val="6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619" dirty="0"/>
          </a:p>
        </p:txBody>
      </p:sp>
      <p:sp>
        <p:nvSpPr>
          <p:cNvPr id="21" name="Text 18"/>
          <p:cNvSpPr/>
          <p:nvPr/>
        </p:nvSpPr>
        <p:spPr>
          <a:xfrm>
            <a:off x="598646" y="2839117"/>
            <a:ext cx="1117283" cy="293494"/>
          </a:xfrm>
          <a:prstGeom prst="roundRect">
            <a:avLst>
              <a:gd name="adj" fmla="val 3242136"/>
            </a:avLst>
          </a:prstGeom>
          <a:solidFill>
            <a:srgbClr val="FBEEC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21506" y="2851919"/>
            <a:ext cx="1128713" cy="267891"/>
          </a:xfrm>
          <a:prstGeom prst="rect">
            <a:avLst/>
          </a:prstGeom>
          <a:noFill/>
          <a:ln/>
        </p:spPr>
        <p:txBody>
          <a:bodyPr wrap="none" lIns="0" tIns="64294" rIns="0" bIns="64294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b="1" kern="0" spc="15" dirty="0">
                <a:solidFill>
                  <a:srgbClr val="8A61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IDOR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807369" y="2819772"/>
            <a:ext cx="2543175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8"/>
              </a:lnSpc>
              <a:buNone/>
            </a:pPr>
            <a:r>
              <a:rPr lang="en-US" sz="844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Verify on the server that the logged-in user owns the requested object ID - on every request.</a:t>
            </a:r>
            <a:endParaRPr lang="en-US" sz="844" dirty="0"/>
          </a:p>
        </p:txBody>
      </p:sp>
      <p:sp>
        <p:nvSpPr>
          <p:cNvPr id="24" name="Text 21"/>
          <p:cNvSpPr/>
          <p:nvPr/>
        </p:nvSpPr>
        <p:spPr>
          <a:xfrm>
            <a:off x="4632722" y="2460575"/>
            <a:ext cx="4050506" cy="1050578"/>
          </a:xfrm>
          <a:prstGeom prst="roundRect">
            <a:avLst>
              <a:gd name="adj" fmla="val 18133"/>
            </a:avLst>
          </a:prstGeom>
          <a:solidFill>
            <a:srgbClr val="FFFFFF"/>
          </a:solidFill>
          <a:ln w="7144">
            <a:solidFill>
              <a:srgbClr val="EAE4F2"/>
            </a:solidFill>
            <a:prstDash val="solid"/>
          </a:ln>
          <a:effectLst>
            <a:outerShdw blurRad="304800" dist="114300" dir="5400000" algn="bl" rotWithShape="0">
              <a:srgbClr val="4A3F63">
                <a:alpha val="9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8461253" y="2535585"/>
            <a:ext cx="142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b="1" dirty="0">
                <a:solidFill>
                  <a:srgbClr val="776D93">
                    <a:alpha val="6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619" dirty="0"/>
          </a:p>
        </p:txBody>
      </p:sp>
      <p:sp>
        <p:nvSpPr>
          <p:cNvPr id="26" name="Text 23"/>
          <p:cNvSpPr/>
          <p:nvPr/>
        </p:nvSpPr>
        <p:spPr>
          <a:xfrm>
            <a:off x="4770596" y="2839117"/>
            <a:ext cx="1117283" cy="293494"/>
          </a:xfrm>
          <a:prstGeom prst="roundRect">
            <a:avLst>
              <a:gd name="adj" fmla="val 3242136"/>
            </a:avLst>
          </a:prstGeom>
          <a:solidFill>
            <a:srgbClr val="FBEEC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793456" y="2851919"/>
            <a:ext cx="1128713" cy="267891"/>
          </a:xfrm>
          <a:prstGeom prst="rect">
            <a:avLst/>
          </a:prstGeom>
          <a:noFill/>
          <a:ln/>
        </p:spPr>
        <p:txBody>
          <a:bodyPr wrap="none" lIns="0" tIns="64294" rIns="0" bIns="64294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b="1" kern="0" spc="15" dirty="0">
                <a:solidFill>
                  <a:srgbClr val="8A61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Quantity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979319" y="2819772"/>
            <a:ext cx="2543175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8"/>
              </a:lnSpc>
              <a:buNone/>
            </a:pPr>
            <a:r>
              <a:rPr lang="en-US" sz="844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Validate quantity server-side with a minimum of 1 and a sensible maximum - never trust client values.</a:t>
            </a:r>
            <a:endParaRPr lang="en-US" sz="844" dirty="0"/>
          </a:p>
        </p:txBody>
      </p:sp>
      <p:sp>
        <p:nvSpPr>
          <p:cNvPr id="29" name="Text 26"/>
          <p:cNvSpPr/>
          <p:nvPr/>
        </p:nvSpPr>
        <p:spPr>
          <a:xfrm>
            <a:off x="460772" y="3632597"/>
            <a:ext cx="8222456" cy="489347"/>
          </a:xfrm>
          <a:prstGeom prst="roundRect">
            <a:avLst>
              <a:gd name="adj" fmla="val 38929"/>
            </a:avLst>
          </a:prstGeom>
          <a:solidFill>
            <a:srgbClr val="FFFFFF"/>
          </a:solidFill>
          <a:ln w="7144">
            <a:solidFill>
              <a:srgbClr val="EAE4F2"/>
            </a:solidFill>
            <a:prstDash val="solid"/>
          </a:ln>
          <a:effectLst>
            <a:outerShdw blurRad="304800" dist="114300" dir="5400000" algn="bl" rotWithShape="0">
              <a:srgbClr val="4A3F63">
                <a:alpha val="9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8461253" y="3707606"/>
            <a:ext cx="1424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b="1" dirty="0">
                <a:solidFill>
                  <a:srgbClr val="776D93">
                    <a:alpha val="6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619" dirty="0"/>
          </a:p>
        </p:txBody>
      </p:sp>
      <p:sp>
        <p:nvSpPr>
          <p:cNvPr id="31" name="Text 28"/>
          <p:cNvSpPr/>
          <p:nvPr/>
        </p:nvSpPr>
        <p:spPr>
          <a:xfrm>
            <a:off x="598646" y="3730523"/>
            <a:ext cx="1117283" cy="293494"/>
          </a:xfrm>
          <a:prstGeom prst="roundRect">
            <a:avLst>
              <a:gd name="adj" fmla="val 3242136"/>
            </a:avLst>
          </a:prstGeom>
          <a:solidFill>
            <a:srgbClr val="D6E4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621506" y="3743325"/>
            <a:ext cx="1128713" cy="267891"/>
          </a:xfrm>
          <a:prstGeom prst="rect">
            <a:avLst/>
          </a:prstGeom>
          <a:noFill/>
          <a:ln/>
        </p:spPr>
        <p:txBody>
          <a:bodyPr wrap="none" lIns="0" tIns="64294" rIns="0" bIns="64294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b="1" kern="0" spc="15" dirty="0">
                <a:solidFill>
                  <a:srgbClr val="2F55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Session Token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1807369" y="3794224"/>
            <a:ext cx="6622256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8"/>
              </a:lnSpc>
              <a:buNone/>
            </a:pPr>
            <a:r>
              <a:rPr lang="en-US" sz="844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Keep a server-side token blacklist or short-lived tokens with refresh, so logout truly invalidates the session.</a:t>
            </a:r>
            <a:endParaRPr lang="en-US" sz="844" dirty="0"/>
          </a:p>
        </p:txBody>
      </p:sp>
      <p:sp>
        <p:nvSpPr>
          <p:cNvPr id="34" name="Text 31"/>
          <p:cNvSpPr/>
          <p:nvPr/>
        </p:nvSpPr>
        <p:spPr>
          <a:xfrm>
            <a:off x="460772" y="4243388"/>
            <a:ext cx="8222456" cy="567928"/>
          </a:xfrm>
          <a:prstGeom prst="roundRect">
            <a:avLst>
              <a:gd name="adj" fmla="val 33543"/>
            </a:avLst>
          </a:prstGeom>
          <a:solidFill>
            <a:srgbClr val="E3F2EA"/>
          </a:solidFill>
          <a:ln w="7144">
            <a:solidFill>
              <a:srgbClr val="EAE4F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635794" y="4370189"/>
            <a:ext cx="314325" cy="314325"/>
          </a:xfrm>
          <a:prstGeom prst="ellipse">
            <a:avLst/>
          </a:prstGeom>
          <a:solidFill>
            <a:srgbClr val="FFFFFF"/>
          </a:solidFill>
          <a:ln/>
          <a:effectLst>
            <a:outerShdw blurRad="152400" dist="57150" dir="5400000" algn="bl" rotWithShape="0">
              <a:srgbClr val="4A3F63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679013" y="441340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4A3F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1547" dirty="0"/>
          </a:p>
        </p:txBody>
      </p:sp>
      <p:sp>
        <p:nvSpPr>
          <p:cNvPr id="37" name="Text 34"/>
          <p:cNvSpPr/>
          <p:nvPr/>
        </p:nvSpPr>
        <p:spPr>
          <a:xfrm>
            <a:off x="1078706" y="4361259"/>
            <a:ext cx="7429500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8"/>
              </a:lnSpc>
              <a:buNone/>
            </a:pPr>
            <a:r>
              <a:rPr lang="en-US" sz="844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weakest link</a:t>
            </a:r>
            <a:r>
              <a:rPr lang="en-US" sz="844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- fixing the SQL injection first removes the entry point the entire chain depends on. Keep defense in depth anyway: never rely on a single control.</a:t>
            </a:r>
            <a:endParaRPr lang="en-US" sz="84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714375" y="-785812"/>
            <a:ext cx="2143125" cy="2143125"/>
          </a:xfrm>
          <a:prstGeom prst="ellipse">
            <a:avLst/>
          </a:prstGeom>
          <a:solidFill>
            <a:srgbClr val="C9B8E8">
              <a:alpha val="3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929563" y="4000500"/>
            <a:ext cx="1857375" cy="1857375"/>
          </a:xfrm>
          <a:prstGeom prst="ellipse">
            <a:avLst/>
          </a:prstGeom>
          <a:solidFill>
            <a:srgbClr val="A9D8C0">
              <a:alpha val="3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500938" y="314325"/>
            <a:ext cx="857250" cy="857250"/>
          </a:xfrm>
          <a:prstGeom prst="ellipse">
            <a:avLst/>
          </a:prstGeom>
          <a:solidFill>
            <a:srgbClr val="FFD9C7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57250" y="4000500"/>
            <a:ext cx="642938" cy="642938"/>
          </a:xfrm>
          <a:prstGeom prst="ellipse">
            <a:avLst/>
          </a:prstGeom>
          <a:solidFill>
            <a:srgbClr val="F6CFDD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49177" y="315811"/>
            <a:ext cx="1245535" cy="264919"/>
          </a:xfrm>
          <a:prstGeom prst="roundRect">
            <a:avLst>
              <a:gd name="adj" fmla="val 3591843"/>
            </a:avLst>
          </a:prstGeom>
          <a:solidFill>
            <a:srgbClr val="FBEAF0"/>
          </a:solidFill>
          <a:ln w="7144">
            <a:solidFill>
              <a:srgbClr val="F6CFDD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972037" y="328613"/>
            <a:ext cx="1199815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b="1" kern="0" spc="102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KEY TAKEAWAYS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667941"/>
            <a:ext cx="8595360" cy="441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18"/>
              </a:lnSpc>
              <a:buNone/>
            </a:pPr>
            <a:r>
              <a:rPr lang="en-US" sz="2925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This Week Taught Me</a:t>
            </a:r>
            <a:endParaRPr lang="en-US" sz="2925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975" y="1162199"/>
            <a:ext cx="400050" cy="5000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60772" y="1554212"/>
            <a:ext cx="4050506" cy="741387"/>
          </a:xfrm>
          <a:prstGeom prst="roundRect">
            <a:avLst>
              <a:gd name="adj" fmla="val 25695"/>
            </a:avLst>
          </a:prstGeom>
          <a:solidFill>
            <a:srgbClr val="FFFFFF"/>
          </a:solidFill>
          <a:ln w="7144">
            <a:solidFill>
              <a:srgbClr val="EAE4F2"/>
            </a:solidFill>
            <a:prstDash val="solid"/>
          </a:ln>
          <a:effectLst>
            <a:outerShdw blurRad="304800" dist="114300" dir="5400000" algn="bl" rotWithShape="0">
              <a:srgbClr val="4A3F63">
                <a:alpha val="9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28650" y="1767743"/>
            <a:ext cx="314325" cy="314325"/>
          </a:xfrm>
          <a:prstGeom prst="ellipse">
            <a:avLst/>
          </a:prstGeom>
          <a:solidFill>
            <a:srgbClr val="F0EAF9"/>
          </a:solidFill>
          <a:ln w="14288">
            <a:solidFill>
              <a:srgbClr val="C9B8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71870" y="181096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4A3F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1547" dirty="0"/>
          </a:p>
        </p:txBody>
      </p:sp>
      <p:sp>
        <p:nvSpPr>
          <p:cNvPr id="13" name="Text 10"/>
          <p:cNvSpPr/>
          <p:nvPr/>
        </p:nvSpPr>
        <p:spPr>
          <a:xfrm>
            <a:off x="1064419" y="1758255"/>
            <a:ext cx="3367224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Small bugs chain into big breaches</a:t>
            </a:r>
            <a:endParaRPr lang="en-US" sz="1013" dirty="0"/>
          </a:p>
        </p:txBody>
      </p:sp>
      <p:sp>
        <p:nvSpPr>
          <p:cNvPr id="14" name="Text 11"/>
          <p:cNvSpPr/>
          <p:nvPr/>
        </p:nvSpPr>
        <p:spPr>
          <a:xfrm>
            <a:off x="1064419" y="1947565"/>
            <a:ext cx="3117800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731" dirty="0">
                <a:solidFill>
                  <a:srgbClr val="776D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Individually minor flaws combined into a full compromise of data and orders.</a:t>
            </a:r>
            <a:endParaRPr lang="en-US" sz="731" dirty="0"/>
          </a:p>
        </p:txBody>
      </p:sp>
      <p:sp>
        <p:nvSpPr>
          <p:cNvPr id="15" name="Text 12"/>
          <p:cNvSpPr/>
          <p:nvPr/>
        </p:nvSpPr>
        <p:spPr>
          <a:xfrm>
            <a:off x="4632722" y="1554212"/>
            <a:ext cx="4050506" cy="741387"/>
          </a:xfrm>
          <a:prstGeom prst="roundRect">
            <a:avLst>
              <a:gd name="adj" fmla="val 25695"/>
            </a:avLst>
          </a:prstGeom>
          <a:solidFill>
            <a:srgbClr val="FFFFFF"/>
          </a:solidFill>
          <a:ln w="7144">
            <a:solidFill>
              <a:srgbClr val="EAE4F2"/>
            </a:solidFill>
            <a:prstDash val="solid"/>
          </a:ln>
          <a:effectLst>
            <a:outerShdw blurRad="304800" dist="114300" dir="5400000" algn="bl" rotWithShape="0">
              <a:srgbClr val="4A3F63">
                <a:alpha val="9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800600" y="1767743"/>
            <a:ext cx="314325" cy="314325"/>
          </a:xfrm>
          <a:prstGeom prst="ellipse">
            <a:avLst/>
          </a:prstGeom>
          <a:solidFill>
            <a:srgbClr val="E3F2EA"/>
          </a:solidFill>
          <a:ln w="14288">
            <a:solidFill>
              <a:srgbClr val="A9D8C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843820" y="181096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4A3F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547" dirty="0"/>
          </a:p>
        </p:txBody>
      </p:sp>
      <p:sp>
        <p:nvSpPr>
          <p:cNvPr id="18" name="Text 15"/>
          <p:cNvSpPr/>
          <p:nvPr/>
        </p:nvSpPr>
        <p:spPr>
          <a:xfrm>
            <a:off x="5236369" y="1686371"/>
            <a:ext cx="3286125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Hiding is not protecting</a:t>
            </a:r>
            <a:endParaRPr lang="en-US" sz="1013" dirty="0"/>
          </a:p>
        </p:txBody>
      </p:sp>
      <p:sp>
        <p:nvSpPr>
          <p:cNvPr id="19" name="Text 16"/>
          <p:cNvSpPr/>
          <p:nvPr/>
        </p:nvSpPr>
        <p:spPr>
          <a:xfrm>
            <a:off x="5236369" y="1875681"/>
            <a:ext cx="3286125" cy="28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dirty="0">
                <a:solidFill>
                  <a:srgbClr val="776D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hidden route or a missing menu link replaces nothing - server-side authorization is the real control.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60772" y="2402756"/>
            <a:ext cx="2659819" cy="1302172"/>
          </a:xfrm>
          <a:prstGeom prst="roundRect">
            <a:avLst>
              <a:gd name="adj" fmla="val 14629"/>
            </a:avLst>
          </a:prstGeom>
          <a:solidFill>
            <a:srgbClr val="FFFFFF"/>
          </a:solidFill>
          <a:ln w="7144">
            <a:solidFill>
              <a:srgbClr val="EAE4F2"/>
            </a:solidFill>
            <a:prstDash val="solid"/>
          </a:ln>
          <a:effectLst>
            <a:outerShdw blurRad="304800" dist="114300" dir="5400000" algn="bl" rotWithShape="0">
              <a:srgbClr val="4A3F63">
                <a:alpha val="9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14363" y="2542059"/>
            <a:ext cx="285750" cy="285750"/>
          </a:xfrm>
          <a:prstGeom prst="ellipse">
            <a:avLst/>
          </a:prstGeom>
          <a:solidFill>
            <a:srgbClr val="FFEEE5"/>
          </a:solidFill>
          <a:ln w="14288">
            <a:solidFill>
              <a:srgbClr val="FFD9C7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53653" y="2581349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4A3F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406" dirty="0"/>
          </a:p>
        </p:txBody>
      </p:sp>
      <p:sp>
        <p:nvSpPr>
          <p:cNvPr id="23" name="Text 20"/>
          <p:cNvSpPr/>
          <p:nvPr/>
        </p:nvSpPr>
        <p:spPr>
          <a:xfrm>
            <a:off x="607219" y="2920678"/>
            <a:ext cx="236692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Never trust the client</a:t>
            </a:r>
            <a:endParaRPr lang="en-US" sz="1013" dirty="0"/>
          </a:p>
        </p:txBody>
      </p:sp>
      <p:sp>
        <p:nvSpPr>
          <p:cNvPr id="24" name="Text 21"/>
          <p:cNvSpPr/>
          <p:nvPr/>
        </p:nvSpPr>
        <p:spPr>
          <a:xfrm>
            <a:off x="607219" y="3124274"/>
            <a:ext cx="2366925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dirty="0">
                <a:solidFill>
                  <a:srgbClr val="776D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quantity, price and object ID must be validated on the server, every time.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3242035" y="2402756"/>
            <a:ext cx="2659819" cy="1302172"/>
          </a:xfrm>
          <a:prstGeom prst="roundRect">
            <a:avLst>
              <a:gd name="adj" fmla="val 14629"/>
            </a:avLst>
          </a:prstGeom>
          <a:solidFill>
            <a:srgbClr val="FFFFFF"/>
          </a:solidFill>
          <a:ln w="7144">
            <a:solidFill>
              <a:srgbClr val="EAE4F2"/>
            </a:solidFill>
            <a:prstDash val="solid"/>
          </a:ln>
          <a:effectLst>
            <a:outerShdw blurRad="304800" dist="114300" dir="5400000" algn="bl" rotWithShape="0">
              <a:srgbClr val="4A3F63">
                <a:alpha val="9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3395625" y="2542059"/>
            <a:ext cx="285750" cy="285750"/>
          </a:xfrm>
          <a:prstGeom prst="ellipse">
            <a:avLst/>
          </a:prstGeom>
          <a:solidFill>
            <a:srgbClr val="FBEAF0"/>
          </a:solidFill>
          <a:ln w="14288">
            <a:solidFill>
              <a:srgbClr val="F6CFDD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3434916" y="2581349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4A3F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28" name="Text 25"/>
          <p:cNvSpPr/>
          <p:nvPr/>
        </p:nvSpPr>
        <p:spPr>
          <a:xfrm>
            <a:off x="3388482" y="2920678"/>
            <a:ext cx="236692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Logout must mean logout</a:t>
            </a:r>
            <a:endParaRPr lang="en-US" sz="1013" dirty="0"/>
          </a:p>
        </p:txBody>
      </p:sp>
      <p:sp>
        <p:nvSpPr>
          <p:cNvPr id="29" name="Text 26"/>
          <p:cNvSpPr/>
          <p:nvPr/>
        </p:nvSpPr>
        <p:spPr>
          <a:xfrm>
            <a:off x="3388482" y="3124274"/>
            <a:ext cx="2366925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dirty="0">
                <a:solidFill>
                  <a:srgbClr val="776D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Sessions need real server-side invalidation, not just a cleared browser.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023297" y="2402756"/>
            <a:ext cx="2659931" cy="1302172"/>
          </a:xfrm>
          <a:prstGeom prst="roundRect">
            <a:avLst>
              <a:gd name="adj" fmla="val 14629"/>
            </a:avLst>
          </a:prstGeom>
          <a:solidFill>
            <a:srgbClr val="FFFFFF"/>
          </a:solidFill>
          <a:ln w="7144">
            <a:solidFill>
              <a:srgbClr val="EAE4F2"/>
            </a:solidFill>
            <a:prstDash val="solid"/>
          </a:ln>
          <a:effectLst>
            <a:outerShdw blurRad="304800" dist="114300" dir="5400000" algn="bl" rotWithShape="0">
              <a:srgbClr val="4A3F63">
                <a:alpha val="9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6176888" y="2542059"/>
            <a:ext cx="285750" cy="285750"/>
          </a:xfrm>
          <a:prstGeom prst="ellipse">
            <a:avLst/>
          </a:prstGeom>
          <a:solidFill>
            <a:srgbClr val="F0EAF9"/>
          </a:solidFill>
          <a:ln w="14288">
            <a:solidFill>
              <a:srgbClr val="C9B8E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6216179" y="2581349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4A3F6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⌕</a:t>
            </a:r>
            <a:endParaRPr lang="en-US" sz="1406" dirty="0"/>
          </a:p>
        </p:txBody>
      </p:sp>
      <p:sp>
        <p:nvSpPr>
          <p:cNvPr id="33" name="Text 30"/>
          <p:cNvSpPr/>
          <p:nvPr/>
        </p:nvSpPr>
        <p:spPr>
          <a:xfrm>
            <a:off x="6169744" y="2920678"/>
            <a:ext cx="2367037" cy="3368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Manual testing finds what scanners miss</a:t>
            </a:r>
            <a:endParaRPr lang="en-US" sz="1013" dirty="0"/>
          </a:p>
        </p:txBody>
      </p:sp>
      <p:sp>
        <p:nvSpPr>
          <p:cNvPr id="34" name="Text 31"/>
          <p:cNvSpPr/>
          <p:nvPr/>
        </p:nvSpPr>
        <p:spPr>
          <a:xfrm>
            <a:off x="6169744" y="3285009"/>
            <a:ext cx="2367037" cy="28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dirty="0">
                <a:solidFill>
                  <a:srgbClr val="776D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Logic-driven exploration uncovered every link in this chain.</a:t>
            </a:r>
            <a:endParaRPr lang="en-US" sz="800" dirty="0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4713" y="4046934"/>
            <a:ext cx="514350" cy="50006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2232310" y="4196953"/>
            <a:ext cx="4679268" cy="270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69"/>
              </a:lnSpc>
              <a:buNone/>
            </a:pPr>
            <a:r>
              <a:rPr lang="en-US" sz="1575" b="1" dirty="0">
                <a:solidFill>
                  <a:srgbClr val="4A3F6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Breaking the chain starts with fixing the first link.</a:t>
            </a:r>
            <a:endParaRPr lang="en-US" sz="15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1363</Words>
  <Application>Microsoft Office PowerPoint</Application>
  <PresentationFormat>On-screen Show (16:9)</PresentationFormat>
  <Paragraphs>228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Carlito</vt:lpstr>
      <vt:lpstr>Courier New</vt:lpstr>
      <vt:lpstr>Liberation Sans Narrow</vt:lpstr>
      <vt:lpstr>Segoe UI 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Mah Noor</cp:lastModifiedBy>
  <cp:revision>2</cp:revision>
  <dcterms:created xsi:type="dcterms:W3CDTF">2026-10-14T12:58:35Z</dcterms:created>
  <dcterms:modified xsi:type="dcterms:W3CDTF">2026-10-14T13:19:00Z</dcterms:modified>
</cp:coreProperties>
</file>